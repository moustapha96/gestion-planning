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C6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C6B"/>
                </a:solidFill>
                <a:latin typeface="Arial"/>
              </a:rPr>
              <a:t>Plannings soumis par jour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Plannings</c:v>
                </c:pt>
              </c:strCache>
            </c:strRef>
          </c:tx>
          <c:spPr>
            <a:solidFill>
              <a:srgbClr val="1A3C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F274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18</c:v>
                </c:pt>
                <c:pt idx="2">
                  <c:v>14</c:v>
                </c:pt>
                <c:pt idx="3">
                  <c:v>22</c:v>
                </c:pt>
                <c:pt idx="4">
                  <c:v>16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F274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3C6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3C6B"/>
                </a:solidFill>
                <a:latin typeface="Arial"/>
              </a:rPr>
              <a:t>Répartition par statut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1D6FA4"/>
              </a:solidFill>
              <a:effectLst/>
            </c:spPr>
          </c:dPt>
          <c:dPt>
            <c:idx val="2"/>
            <c:bubble3D val="0"/>
            <c:spPr>
              <a:solidFill>
                <a:srgbClr val="EA580C"/>
              </a:solidFill>
              <a:effectLst/>
            </c:spPr>
          </c:dPt>
          <c:dPt>
            <c:idx val="3"/>
            <c:bubble3D val="0"/>
            <c:spPr>
              <a:solidFill>
                <a:srgbClr val="94A3B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Validés</c:v>
                </c:pt>
                <c:pt idx="1">
                  <c:v>En cours</c:v>
                </c:pt>
                <c:pt idx="2">
                  <c:v>Retournés</c:v>
                </c:pt>
                <c:pt idx="3">
                  <c:v>Brouillons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</c:v>
                </c:pt>
                <c:pt idx="1">
                  <c:v>30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286000" cy="228600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371600" cy="4114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744"/>
                </a:solidFill>
              </a:rPr>
              <a:t>ADM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65960" y="548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Agence de Développement Municipal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GESTION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9952A"/>
                </a:solidFill>
              </a:rPr>
              <a:t>PLANNING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EF4"/>
                </a:solidFill>
              </a:rPr>
              <a:t>Système Intégré de Gestion des Activités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5486400" cy="0"/>
          </a:xfrm>
          <a:prstGeom prst="line">
            <a:avLst/>
          </a:prstGeom>
          <a:noFill/>
          <a:ln w="19050">
            <a:solidFill>
              <a:srgbClr val="C99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49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Présentation Technique &amp; Fonctionnelle  | 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160520"/>
            <a:ext cx="914400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160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v2.0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SOMMAIRE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786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Contexte &amp; Objectifs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9784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Présentation du projet et ses enjeux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447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53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Architecture Technique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16459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Stack, infrastructure et sécurité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2112264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122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21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Les Rôles &amp; Permissions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3134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7 profils utilisateurs distincts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797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788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Authentification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29809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Connexion, JWT, récupération de mot de passe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447288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472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Tableau de Bord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3648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KPIs, statistiques et vue d'ensemble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114800"/>
            <a:ext cx="411480" cy="38404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1480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41239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Gestion des Plannings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8680" y="431596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Création, circuit de validation, publication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777240"/>
            <a:ext cx="411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777240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57800" y="7863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Réunions &amp; Missions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97840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Gestion complète avec notifications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1444752"/>
            <a:ext cx="411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4475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57800" y="145389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Événements &amp; Calendrier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164592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Vue calendrier unifiée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2112264"/>
            <a:ext cx="411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11226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09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21214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Notifications &amp; Discussions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31343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Alertes temps réel et messagerie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54880" y="2779776"/>
            <a:ext cx="411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779776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2788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Administration &amp; Super Admin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57800" y="298094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Gestion utilisateurs, logs, backups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4754880" y="3447288"/>
            <a:ext cx="411480" cy="38404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447288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11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57800" y="345643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Bénéfices &amp; Conclusion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36484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Valeur ajoutée et perspectives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Contexte &amp; Objectifs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Pourquoi Gestion Planning 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Contexte &amp; Objectifs du Projet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Planifications dispersées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1732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Chaque direction gère ses plannings indépendamment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6537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Pas de vision consolidée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Aucun tableau de bord centralisé pour la DG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237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Suivi manuel des réunions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3405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Pas de système de gestion des salles et invitations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8211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 tardives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39242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Informations transmises par email ou téléphone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04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Absence de traçabilité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5079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Pas d'historique des validations et modifications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777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C6B"/>
                </a:solidFill>
              </a:rPr>
              <a:t>Notre Solution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207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Planning centralisé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92040" y="141732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Un seul système pour toutes les directions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184708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86537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Dashboard temps réel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92040" y="20756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KPIs et statistiques disponibles en permanence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505456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5237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Gestion réunions intégrée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92040" y="273405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Salles, invitations, comptes-rendus numériques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3163824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1821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 automatiques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92040" y="33924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Alertes email + in-app instantanées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84048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Audit complet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92040" y="40507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Journal de toutes les actions utilisateurs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Architecture Technique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Stack, infrastructure et sécurité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Architecture Technique de l'Application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2560320" cy="39319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777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377440" cy="0"/>
          </a:xfrm>
          <a:prstGeom prst="line">
            <a:avLst/>
          </a:prstGeom>
          <a:noFill/>
          <a:ln w="12700">
            <a:solidFill>
              <a:srgbClr val="C9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React 19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Vite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Tailwind CSS 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Zustand (état)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React Router 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Axios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09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PWA Support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Ant Design v5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777240"/>
            <a:ext cx="2560320" cy="3931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777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952A"/>
                </a:solidFill>
              </a:rPr>
              <a:t>BACKEND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83280" y="1143000"/>
            <a:ext cx="2377440" cy="0"/>
          </a:xfrm>
          <a:prstGeom prst="line">
            <a:avLst/>
          </a:prstGeom>
          <a:noFill/>
          <a:ln w="12700">
            <a:solidFill>
              <a:srgbClr val="C99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Node.js + Express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Prisma ORM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8328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SQLite → PostgreSQL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JWT Auth (15min/7j)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Rate Limiting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Nodemailer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209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Swagger /api/docs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▸  Cron Jobs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17920" y="777240"/>
            <a:ext cx="2560320" cy="393192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17920" y="777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952A"/>
                </a:solidFill>
              </a:rPr>
              <a:t>INFRASTRUCTURE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1143000"/>
            <a:ext cx="2377440" cy="0"/>
          </a:xfrm>
          <a:prstGeom prst="line">
            <a:avLst/>
          </a:prstGeom>
          <a:noFill/>
          <a:ln w="12700">
            <a:solidFill>
              <a:srgbClr val="C99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Port 5173 (FE)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1563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Port 3001 (BE)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18928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Logs: app / audit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0936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Logs: errors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25511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Email SMTP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880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Sauvegardes auto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09360" y="32095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API REST + Swagger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09360" y="35387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4"/>
                </a:solidFill>
              </a:rPr>
              <a:t>▸  Sécurité CORS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926080" y="2743200"/>
            <a:ext cx="36576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52A"/>
                </a:solidFill>
              </a:rPr>
              <a:t>⟺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852160" y="2743200"/>
            <a:ext cx="36576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2606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952A"/>
                </a:solidFill>
              </a:rPr>
              <a:t>⟺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Rôles &amp; Permissions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7 profils utilisateurs aux droits hiérarchiques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Les 7 Profils Utilisateurs du Système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31520"/>
            <a:ext cx="4114800" cy="86868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84124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88720" y="822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Responsable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10972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Gère son planning, ses réunions et missions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37360"/>
            <a:ext cx="4114800" cy="868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84708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847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188720" y="1828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Consolidateur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Consolide les plannings des responsables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4114800" cy="86868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85292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529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COORD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188720" y="2834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Coordinateur Projet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108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1ère validation du circuit planning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4114800" cy="868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85876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858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Secrétaire Général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Validation étape direction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731520"/>
            <a:ext cx="4023360" cy="8686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64608" y="84124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841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744"/>
                </a:solidFill>
              </a:rPr>
              <a:t>DG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77840" y="822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744"/>
                </a:solidFill>
              </a:rPr>
              <a:t>Directeur Général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10972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744"/>
                </a:solidFill>
              </a:rPr>
              <a:t>Validation finale et vue d'ensemble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1783080"/>
            <a:ext cx="4023360" cy="8686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64608" y="189280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64608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ADMIN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77840" y="1874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Administrateur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2148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Gestion utilisateurs, salles, notifications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402336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64608" y="2944368"/>
            <a:ext cx="640080" cy="64008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64608" y="2944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SADMIN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577840" y="2926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Super Administrateur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4"/>
                </a:solidFill>
              </a:rPr>
              <a:t>Accès total + audit messagerie + backups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65760" y="4663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▲ Hiérarchie croissante des droits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Authentification &amp; Sécurité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JWT, sessions, récupération de compte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Authentification &amp; Gestion des Sessions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Flux d'Authentification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411480" cy="411480"/>
          </a:xfrm>
          <a:prstGeom prst="ellipse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600200"/>
            <a:ext cx="0" cy="292608"/>
          </a:xfrm>
          <a:prstGeom prst="line">
            <a:avLst/>
          </a:prstGeom>
          <a:noFill/>
          <a:ln w="19050">
            <a:solidFill>
              <a:srgbClr val="1A3C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20700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Saisie des identifiants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42646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Email + Mot de passe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892808"/>
            <a:ext cx="411480" cy="41148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2304288"/>
            <a:ext cx="0" cy="292608"/>
          </a:xfrm>
          <a:prstGeom prst="line">
            <a:avLst/>
          </a:prstGeom>
          <a:noFill/>
          <a:ln w="19050">
            <a:solidFill>
              <a:srgbClr val="1D6F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110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Vérification en 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" y="21305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Prisma ORM + hash bcrypt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596896"/>
            <a:ext cx="411480" cy="411480"/>
          </a:xfrm>
          <a:prstGeom prst="ellipse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968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3008376"/>
            <a:ext cx="0" cy="292608"/>
          </a:xfrm>
          <a:prstGeom prst="line">
            <a:avLst/>
          </a:prstGeom>
          <a:noFill/>
          <a:ln w="19050">
            <a:solidFill>
              <a:srgbClr val="2E8B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615184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Génération des 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346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Access (15min) + Refresh (7j)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30098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009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3712464"/>
            <a:ext cx="0" cy="292608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3192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Stockage localStorage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" y="353872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accessToken, refreshToken, user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4005072"/>
            <a:ext cx="411480" cy="41148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05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402336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Renouvellement auto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424281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Axios interceptor sur 401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Fonctionnalités de Sécurité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118872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12070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Mot de passe oublié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142646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Lien de réinitialisation envoyé par email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1801368"/>
            <a:ext cx="54864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1819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Activation de compte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20391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Token unique à la création du compte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54880" y="2414016"/>
            <a:ext cx="54864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4323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Historique des mots de passe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92040" y="265176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Aucune réutilisation des anciens mdp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3026664"/>
            <a:ext cx="54864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3044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Rate limiting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892040" y="326440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Protection contre les attaques brute-force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639312"/>
            <a:ext cx="54864" cy="475488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Tokens révocables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92040" y="3877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Stockés en DB, révocables à tout moment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4251960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4270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Audit des connexions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892040" y="4489704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Toutes les actions loguées en audit.log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05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Tableau de Bord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KPIs, statistiques et vue d'ensemble en temps réel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Tableau de Bord — Vue Générale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1920240" cy="11887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156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Plannings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Cette semaine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777240"/>
            <a:ext cx="1920240" cy="11887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34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46888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Réunions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En cours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0" y="777240"/>
            <a:ext cx="19202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89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Actives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75120" y="777240"/>
            <a:ext cx="1920240" cy="11887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8686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675120" y="14630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Utilisateurs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6916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Connectés</a:t>
            </a:r>
            <a:endParaRPr lang="en-US" sz="8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2148840"/>
          <a:ext cx="502920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2" name="Chart 1" descr=""/>
          <p:cNvGraphicFramePr/>
          <p:nvPr/>
        </p:nvGraphicFramePr>
        <p:xfrm>
          <a:off x="5577840" y="2148840"/>
          <a:ext cx="33832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06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Gestion des Plannings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Création, soumission, validation et publication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 Planning — Fonctionnalités Clés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13716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Création du Planning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 Responsable crée son planning hebdomadaire en saisissant ses activités, tâches et disponibilités pour chaque jour de la semaine.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64008" cy="13716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914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Soumission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28032" y="12344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 planning est soumis au Consolidateur pour vérification. Un email de notification est automatiquement envoyé.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317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31720"/>
            <a:ext cx="64008" cy="137160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Consolidation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 Consolidateur regroupe les plannings de son équipe, vérifie la cohérence et les soumet au circuit de validation.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3317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331720"/>
            <a:ext cx="64008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Circuit de Validation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7889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Coordinateur Projet → Secrétaire Général / DG. Chaque étape peut valider ou retourner le planning pour correction.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886200"/>
            <a:ext cx="64008" cy="13716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Publication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4343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Après validation finale, le planning est publié et consultable par tous les acteurs concernés dans le système.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8862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886200"/>
            <a:ext cx="64008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28032" y="4023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Historique &amp;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43434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Chaque modification, soumission ou validation est tracée dans le journal d'audit avec l'identité de l'auteur.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Circuit de Validation des Plannings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371600"/>
            <a:ext cx="1645920" cy="201168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Création &amp; Soumission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965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RESPONSABLE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377440"/>
            <a:ext cx="22860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48840" y="1371600"/>
            <a:ext cx="1645920" cy="20116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14884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Consolidation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40280" y="187452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1965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CONSOLIDATEUR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94760" y="2377440"/>
            <a:ext cx="22860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23360" y="1371600"/>
            <a:ext cx="1645920" cy="201168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1ère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187452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965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COORDINATEUR PROJET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69280" y="2377440"/>
            <a:ext cx="22860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897880" y="1371600"/>
            <a:ext cx="1645920" cy="20116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89788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 Direction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187452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965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SG / DG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543800" y="2377440"/>
            <a:ext cx="228600" cy="0"/>
          </a:xfrm>
          <a:prstGeom prst="line">
            <a:avLst/>
          </a:prstGeom>
          <a:noFill/>
          <a:ln w="25400">
            <a:solidFill>
              <a:srgbClr val="C99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225856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0" y="1371600"/>
            <a:ext cx="1645920" cy="2011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Planning Publié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63840" y="1874520"/>
            <a:ext cx="146304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9659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PUBLICATION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6B"/>
                </a:solidFill>
              </a:rPr>
              <a:t>Statuts possibles à chaque étape :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69080"/>
            <a:ext cx="1188720" cy="3657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BROUILLON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536192" y="4069080"/>
            <a:ext cx="1188720" cy="36576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36192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SOUMIS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798064" y="4069080"/>
            <a:ext cx="1188720" cy="3657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98064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CONSOLIDÉ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059936" y="4069080"/>
            <a:ext cx="1188720" cy="3657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59936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VALIDÉ CP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21808" y="4069080"/>
            <a:ext cx="1188720" cy="36576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21808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VALIDÉ SG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583680" y="4069080"/>
            <a:ext cx="118872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PUBLIÉ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845552" y="4069080"/>
            <a:ext cx="118872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45552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RETOURNÉ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274320" y="4526280"/>
            <a:ext cx="8595360" cy="365760"/>
          </a:xfrm>
          <a:prstGeom prst="rect">
            <a:avLst/>
          </a:prstGeom>
          <a:solidFill>
            <a:srgbClr val="F4F7FB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526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ℹ  Un planning RETOURNÉ revient au Responsable avec commentaires pour correction avant re-soumission.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07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Réunions &amp; Missions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Gestion complète avec notifications automatiques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Module Réunions — Cycle Complet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Processus de Gestion d'une Réunion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1554480" cy="16459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32688" y="1325880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Création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Titre, date, heure,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lieu, ordre du jour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38528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52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234440"/>
            <a:ext cx="1554480" cy="1645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70048" y="1325880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6FA4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0312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Participants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Invitation des membres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par sélection de rôle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75888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52A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0" y="1234440"/>
            <a:ext cx="1554480" cy="164592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07408" y="1325880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740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8BC0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84048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Notifications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Email + alerte in-app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aux invités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413248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52A"/>
                </a:solidFill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1234440"/>
            <a:ext cx="155448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44768" y="1325880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7784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Réunion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7784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Tenue de la réunion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avec suivi présence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150608" y="196596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952A"/>
                </a:solidFill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315200" y="1234440"/>
            <a:ext cx="1554480" cy="164592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82128" y="1325880"/>
            <a:ext cx="411480" cy="4114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82128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952A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15200" y="1874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Compte-rendu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0" y="21945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Rédaction numérique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E8EEF4"/>
                </a:solidFill>
              </a:rPr>
              <a:t>du compte-rendu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063240"/>
            <a:ext cx="841248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Module Missions — Fonctionnalités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Création de mission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30352" y="3886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Titre, description, dates, priorité et équipe assignée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5760" y="42245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4242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Suivi de progression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30352" y="4453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Statuts : À faire → En cours → Terminée / Annulée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365760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 liées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28032" y="388620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Alertes à la création, modification et clôture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4224528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28032" y="424281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Historique complet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828032" y="44531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Toutes les missions consultables avec filtres avancés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08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Événements &amp; Calendrier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Vue calendrier unifiée — plannings, réunions, missions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Calendrier &amp; Gestion des Événements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Calendrier Unifié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41148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Vue mensuelle / hebdomadaire / journalière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54864" cy="41148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10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Affichage coloré par type d'événement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54864" cy="41148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59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Plannings, réunions et missions superposés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4864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Navigation temporelle intuitive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383280"/>
            <a:ext cx="54864" cy="41148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4564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Export / impression de la vue calendrier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931920"/>
            <a:ext cx="54864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0050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Filtres par utilisateur ou équipe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Gestion des Événements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261872"/>
            <a:ext cx="1005840" cy="256032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852160" y="12801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Activités planifiées par semaine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1856232"/>
            <a:ext cx="1005840" cy="25603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8562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Réunions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52160" y="187452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Rencontres avec participants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450592"/>
            <a:ext cx="10058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Missions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52160" y="246888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Tâches assignées avec deadline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44952"/>
            <a:ext cx="1005840" cy="2560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0449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Congés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52160" y="306324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Absences et congés déclarés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639312"/>
            <a:ext cx="100584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393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Formations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2160" y="365760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Sessions de formation internes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4233672"/>
            <a:ext cx="1005840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4233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Autres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852160" y="42519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Événements personnalisés (admin)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709160"/>
            <a:ext cx="4114800" cy="201168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470916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Les types et couleurs d'événements sont configurables par l'administrateur.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09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Notifications &amp; Discussions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Alertes temps réel et messagerie intégrée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Système de Notifications &amp; Messagerie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Flux de Notification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1920240" cy="16459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Événement Système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1907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Soumission planning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Création réunion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Assignation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12848" y="18745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170432"/>
            <a:ext cx="1920240" cy="1645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3172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Service Notification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23160" y="1627632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71907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notificationService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(Node.js backend)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70248" y="18745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170432"/>
            <a:ext cx="1920240" cy="164592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In-App Notification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80560" y="1627632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0" y="171907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Cloche en temps réel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Polling toutes les 30s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27648" y="187452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52A"/>
                </a:solidFill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1170432"/>
            <a:ext cx="1920240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46520" y="1261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Email Automatique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37960" y="1627632"/>
            <a:ext cx="173736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171907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Nodemailer SMTP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4"/>
                </a:solidFill>
              </a:rPr>
              <a:t>Template HTML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017520"/>
            <a:ext cx="8412480" cy="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821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Module Discussions / Messagerie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54864" cy="45720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0352" y="3630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Messagerie privée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30352" y="3840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Conversations directes entre utilisateurs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206240"/>
            <a:ext cx="54864" cy="4572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Discussions de réunions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" y="4434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Fil de discussion lié à chaque réunion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3611880"/>
            <a:ext cx="54864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6301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Modération Super Admin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28032" y="384048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Audit et suppression de messages par SUPER_ADMIN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4206240"/>
            <a:ext cx="54864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224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Notifications de messages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28032" y="44348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Alerte in-app lors de réception d'un message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10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Administration &amp; Super Admin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Gestion utilisateurs, logs, backups système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Panneau d'Administration — Modules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10515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86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Gestion Utilisateurs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Créer, modifier, désactiver des comptes. Attribuer les rôles. Envoyer liens de reset.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77724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777240"/>
            <a:ext cx="64008" cy="105156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869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Gestion des Plannings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Vue globale admin : créer, soumettre, consolider, valider ou supprimer tout planning.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11680"/>
            <a:ext cx="64008" cy="1051560"/>
          </a:xfrm>
          <a:prstGeom prst="rect">
            <a:avLst/>
          </a:prstGeom>
          <a:solidFill>
            <a:srgbClr val="2E8BC0"/>
          </a:solidFill>
          <a:ln w="12700">
            <a:solidFill>
              <a:srgbClr val="2E8B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Gestion des Salles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423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Créer et gérer les salles de réunion (capacité, équipements, activation/désactivation).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011680"/>
            <a:ext cx="64008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1214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Types d'Événements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24231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Configurer les codes, libellés et couleurs des types d'événements du calendrier.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246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246120"/>
            <a:ext cx="64008" cy="10515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Journal d'Audit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Consulter toutes les actions (connexion, modification, validation) avec filtres avancés.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24612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246120"/>
            <a:ext cx="64008" cy="1051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3558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</a:rPr>
              <a:t>Notifications Admin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4632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Envoyer des notifications manuelles à des utilisateurs ou groupes de rôle.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434840"/>
            <a:ext cx="841248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4348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SUPER ADMIN 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011680" y="44348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Tout ce que l'admin peut faire + audit messagerie globale + modération des discussions + promotion de rôle Super Admin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Super Administration — Sauvegardes &amp; Logs Système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Gestion des Sauvegardes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50292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Sauvegarde manuelle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356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Déclenchement à la demande depuis l'interface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47088"/>
            <a:ext cx="54864" cy="50292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745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Sauvegarde automatique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939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Planifiée via cron job (quotidien / hebdomadaire)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505456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328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Historique des backups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5234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Liste des sauvegardes avec date, taille, statut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163824"/>
            <a:ext cx="54864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912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Restauration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41071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Restaurer à partir d'un backup antérieur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49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Export de données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690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Export CSV des logs d'audit et statistiques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Journaux Système (Logs)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188720"/>
            <a:ext cx="64008" cy="914400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application.log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Toutes les requêtes HTTP et réponses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228600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86000"/>
            <a:ext cx="64008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3774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audit.log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92040" y="26974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Actions sensibles : connexions, modifications, validations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54880" y="3383280"/>
            <a:ext cx="4069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383280"/>
            <a:ext cx="64008" cy="914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errors.log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92040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Erreurs applicatives et exceptions non gérées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Matrice des Rôles &amp; Permissions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560320"/>
                <a:gridCol w="749808"/>
                <a:gridCol w="749808"/>
                <a:gridCol w="749808"/>
                <a:gridCol w="658368"/>
                <a:gridCol w="658368"/>
                <a:gridCol w="749808"/>
                <a:gridCol w="749808"/>
              </a:tblGrid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9952A"/>
                          </a:solidFill>
                        </a:rPr>
                        <a:t>Fonctionnalité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RESP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CONS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COORD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DG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ADMIN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S.ADM</a:t>
                      </a:r>
                      <a:endParaRPr lang="en-US" sz="8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6B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Créer / Soumettre Planning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Consolider les Plannings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Valider (1ère étape)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Valider (Direction)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Gérer Réunions / Missions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3C6B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Gestion Utilisateurs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Gestion Salles &amp; Événements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Journal d'Audit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A580C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Sauvegardes Système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  <a:tr h="378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Audit Messagerie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C2626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5010912"/>
            <a:ext cx="320040" cy="18288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01091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✓ = permission accordée  |  cellule vide = non autorisé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Profil Utilisateur &amp; Répertoire / Annuaire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Gestion du Profil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Photo de profil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Upload et affichage avatar personnalisé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8562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Informations personnelles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8483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Nom, prénom, email, poste, département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6888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49631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Changement de mot de passe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Avec vérification de l'historique des mdp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363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Préférences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3649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Langue, notifications, thème interface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749040"/>
            <a:ext cx="54864" cy="475488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764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Sécurité du compte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400507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Sessions actives et activité récente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26280" y="777240"/>
            <a:ext cx="0" cy="4114800"/>
          </a:xfrm>
          <a:prstGeom prst="line">
            <a:avLst/>
          </a:prstGeom>
          <a:noFill/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777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6B"/>
                </a:solidFill>
              </a:rPr>
              <a:t>Répertoire / Annuaire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188720"/>
            <a:ext cx="54864" cy="4754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16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Liste de contacts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92040" y="14447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Tous les utilisateurs avec informations de contact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1828800"/>
            <a:ext cx="54864" cy="4754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185623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Recherche &amp; filtres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92040" y="2084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Filtrage par nom, rôle, département, direction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2468880"/>
            <a:ext cx="54864" cy="4754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96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Fiche contact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92040" y="272491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Affichage détaillé avec poste, email, téléphone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108960"/>
            <a:ext cx="54864" cy="4754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136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Import / Export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92040" y="33649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Gestion en lot des contacts (format CSV)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749040"/>
            <a:ext cx="54864" cy="475488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7764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</a:rPr>
              <a:t>Groupes &amp; Équipes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92040" y="4005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Organisation par direction et service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952A">
                    <a:alpha val="80000"/>
                  </a:srgbClr>
                </a:solidFill>
              </a:rPr>
              <a:t>11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320040" y="23774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Bénéfices &amp; 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004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Valeur ajoutée et perspectives d'évolution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Bénéfices &amp; Valeur Ajoutée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960120"/>
            <a:ext cx="594360" cy="594360"/>
          </a:xfrm>
          <a:prstGeom prst="ellipse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941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Gain de Temps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Suppression des processus manuels de transmission et validation des plannings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4680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960120"/>
            <a:ext cx="594360" cy="594360"/>
          </a:xfrm>
          <a:prstGeom prst="ellipse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023360" y="941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Visibilité Totale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La DG dispose en permanence d'une vue consolidée de toutes les activités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35040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960120"/>
            <a:ext cx="594360" cy="594360"/>
          </a:xfrm>
          <a:prstGeom prst="ellipse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960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03720" y="9418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Sécurité Renforcée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903720" y="12801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Authentification JWT, audit trail complet, rate limiting, historique mdp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514600"/>
            <a:ext cx="594360" cy="5943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2496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Décision Data-Driven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KPIs et tableaux de bord pour des décisions basées sur des données réelles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54680" y="2331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2514600"/>
            <a:ext cx="594360" cy="59436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023360" y="2496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Communication Fluide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02336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Notifications instantanées (in-app + email) et messagerie intégrée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35040" y="2331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2514600"/>
            <a:ext cx="594360" cy="5943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903720" y="24963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Accessible Partout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03720" y="28346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Application PWA consultable sur desktop, tablette et smartphone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8595360" cy="1097280"/>
          </a:xfrm>
          <a:prstGeom prst="rect">
            <a:avLst/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52A"/>
                </a:solidFill>
              </a:rPr>
              <a:t>15+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152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Modules Fonctionnels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148840" y="3977640"/>
            <a:ext cx="0" cy="731520"/>
          </a:xfrm>
          <a:prstGeom prst="line">
            <a:avLst/>
          </a:prstGeom>
          <a:noFill/>
          <a:ln w="12700">
            <a:solidFill>
              <a:srgbClr val="1A3C6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316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52A"/>
                </a:solidFill>
              </a:rPr>
              <a:t>7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242316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Profils Utilisateurs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840480" y="3977640"/>
            <a:ext cx="0" cy="731520"/>
          </a:xfrm>
          <a:prstGeom prst="line">
            <a:avLst/>
          </a:prstGeom>
          <a:noFill/>
          <a:ln w="12700">
            <a:solidFill>
              <a:srgbClr val="1A3C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52A"/>
                </a:solidFill>
              </a:rPr>
              <a:t>100%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411480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Traçabilité Audit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532120" y="3977640"/>
            <a:ext cx="0" cy="731520"/>
          </a:xfrm>
          <a:prstGeom prst="line">
            <a:avLst/>
          </a:prstGeom>
          <a:noFill/>
          <a:ln w="12700">
            <a:solidFill>
              <a:srgbClr val="1A3C6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0644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52A"/>
                </a:solidFill>
              </a:rPr>
              <a:t>30s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580644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Polling Notifications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223760" y="3977640"/>
            <a:ext cx="0" cy="731520"/>
          </a:xfrm>
          <a:prstGeom prst="line">
            <a:avLst/>
          </a:prstGeom>
          <a:noFill/>
          <a:ln w="12700">
            <a:solidFill>
              <a:srgbClr val="1A3C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39319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52A"/>
                </a:solidFill>
              </a:rPr>
              <a:t>PWA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498080" y="4434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Support Mobile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Feuille de Route — Évolutions Prévues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686800" y="137160"/>
            <a:ext cx="320040" cy="320040"/>
          </a:xfrm>
          <a:prstGeom prst="ellipse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1148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274320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 Production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Authentification JWT sécurisée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2057400"/>
            <a:ext cx="2468880" cy="0"/>
          </a:xfrm>
          <a:prstGeom prst="line">
            <a:avLst/>
          </a:prstGeom>
          <a:noFill/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Gestion complète des plannings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2468880" cy="0"/>
          </a:xfrm>
          <a:prstGeom prst="line">
            <a:avLst/>
          </a:prstGeom>
          <a:noFill/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Circuit de validation 4 étapes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429000"/>
            <a:ext cx="2468880" cy="0"/>
          </a:xfrm>
          <a:prstGeom prst="line">
            <a:avLst/>
          </a:prstGeom>
          <a:noFill/>
          <a:ln w="635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✓ Tableau de bord dynamique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777240"/>
            <a:ext cx="2743200" cy="4114800"/>
          </a:xfrm>
          <a:prstGeom prst="rect">
            <a:avLst/>
          </a:prstGeom>
          <a:solidFill>
            <a:srgbClr val="FFFBEB"/>
          </a:solidFill>
          <a:ln w="12700">
            <a:solidFill>
              <a:srgbClr val="C9952A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777240"/>
            <a:ext cx="2743200" cy="54864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5468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En Cours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◎ Migration PostgreSQL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2057400"/>
            <a:ext cx="2468880" cy="0"/>
          </a:xfrm>
          <a:prstGeom prst="line">
            <a:avLst/>
          </a:prstGeom>
          <a:noFill/>
          <a:ln w="6350">
            <a:solidFill>
              <a:srgbClr val="C9952A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◎ Ant Design v5 intégré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2743200"/>
            <a:ext cx="2468880" cy="0"/>
          </a:xfrm>
          <a:prstGeom prst="line">
            <a:avLst/>
          </a:prstGeom>
          <a:noFill/>
          <a:ln w="6350">
            <a:solidFill>
              <a:srgbClr val="C9952A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◎ Rate limiting &amp; password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3429000"/>
            <a:ext cx="2468880" cy="0"/>
          </a:xfrm>
          <a:prstGeom prst="line">
            <a:avLst/>
          </a:prstGeom>
          <a:noFill/>
          <a:ln w="6350">
            <a:solidFill>
              <a:srgbClr val="C9952A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◎ Export CSV logs d'audit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777240"/>
            <a:ext cx="274320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1A3C6B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777240"/>
            <a:ext cx="274320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777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035040" y="10515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Planifié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15087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○ Rapports PDF automatisés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2057400"/>
            <a:ext cx="2468880" cy="0"/>
          </a:xfrm>
          <a:prstGeom prst="line">
            <a:avLst/>
          </a:prstGeom>
          <a:noFill/>
          <a:ln w="6350">
            <a:solidFill>
              <a:srgbClr val="E8EEF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1945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○ Intégration SSO entreprise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468880" cy="0"/>
          </a:xfrm>
          <a:prstGeom prst="line">
            <a:avLst/>
          </a:prstGeom>
          <a:noFill/>
          <a:ln w="6350">
            <a:solidFill>
              <a:srgbClr val="E8EEF4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8803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○ Application mobile native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3429000"/>
            <a:ext cx="2468880" cy="0"/>
          </a:xfrm>
          <a:prstGeom prst="line">
            <a:avLst/>
          </a:prstGeom>
          <a:noFill/>
          <a:ln w="6350">
            <a:solidFill>
              <a:srgbClr val="E8EEF4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5661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○ API publique documentée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3657600" cy="3657600"/>
          </a:xfrm>
          <a:prstGeom prst="ellipse">
            <a:avLst/>
          </a:prstGeom>
          <a:solidFill>
            <a:srgbClr val="1A3C6B"/>
          </a:solidFill>
          <a:ln w="12700">
            <a:solidFill>
              <a:srgbClr val="1A3C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2286000"/>
            <a:ext cx="2286000" cy="2286000"/>
          </a:xfrm>
          <a:prstGeom prst="ellipse">
            <a:avLst/>
          </a:prstGeom>
          <a:solidFill>
            <a:srgbClr val="C9952A">
              <a:alpha val="50000"/>
            </a:srgbClr>
          </a:solidFill>
          <a:ln w="12700">
            <a:solidFill>
              <a:srgbClr val="C9952A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Merci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952A"/>
                </a:solidFill>
              </a:rPr>
              <a:t>pour votre attention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5486400" cy="0"/>
          </a:xfrm>
          <a:prstGeom prst="line">
            <a:avLst/>
          </a:prstGeom>
          <a:noFill/>
          <a:ln w="19050">
            <a:solidFill>
              <a:srgbClr val="C99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EF4"/>
                </a:solidFill>
              </a:rPr>
              <a:t>GESTION PLANNING — ADM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Système Intégré de Gestion des Activités Municipales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📧  khouma964@gmail.com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9593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🌐  http://localhost:5173  (Frontend)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068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🔧  http://localhost:3001/api/docs  (Swagger API)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4617720"/>
            <a:ext cx="1097280" cy="256032"/>
          </a:xfrm>
          <a:prstGeom prst="rect">
            <a:avLst/>
          </a:prstGeom>
          <a:solidFill>
            <a:srgbClr val="C9952A"/>
          </a:solidFill>
          <a:ln w="12700">
            <a:solidFill>
              <a:srgbClr val="C99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617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744"/>
                </a:solidFill>
              </a:rPr>
              <a:t>Version 2.0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Mai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 Planning - Présentation du Système</dc:title>
  <dc:subject>PptxGenJS Presentation</dc:subject>
  <dc:creator>ADM - Agence de Développement Municipal</dc:creator>
  <cp:lastModifiedBy>ADM - Agence de Développement Municipal</cp:lastModifiedBy>
  <cp:revision>1</cp:revision>
  <dcterms:created xsi:type="dcterms:W3CDTF">2026-05-08T14:40:14Z</dcterms:created>
  <dcterms:modified xsi:type="dcterms:W3CDTF">2026-05-08T14:40:14Z</dcterms:modified>
</cp:coreProperties>
</file>