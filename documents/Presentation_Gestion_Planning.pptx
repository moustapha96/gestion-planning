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4572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Planning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Complète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· Interfaces · Modules · Création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7D5E5D9-06B1-99E2-6AAC-95D8E89EEAD2}"/>
              </a:ext>
            </a:extLst>
          </p:cNvPr>
          <p:cNvSpPr/>
          <p:nvPr/>
        </p:nvSpPr>
        <p:spPr>
          <a:xfrm>
            <a:off x="731520" y="323015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Préstataire</a:t>
            </a: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AL HUSSEIN KHOUMA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716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806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9144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l'application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53312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533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3075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rôles utilisateurs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746504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465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17007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Authentification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139696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396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09397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32888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328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248716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Planning –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260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28803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Planning – Actions par rôle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319272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192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327355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Réunions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712464"/>
            <a:ext cx="347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66674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Salles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960120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960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21808" y="9144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Calendrier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1353312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3533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21808" y="13075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Missions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1746504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7465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17007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Projets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2139696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1396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21808" y="209397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2532888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5328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21808" y="248716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926080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9260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21808" y="28803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permissions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3319272"/>
            <a:ext cx="3474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3192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21808" y="327355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693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gestion de planning et réunions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069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3624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 CSS 4, Zustand, React Router 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069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3624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5, Prisma ORM, SQLite → PostgreSQL (CDC v2)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945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304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25968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(Access 15min + Refresh 7j), 2FA/TOTP, Rate limiting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945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304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5968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Email — polling 30s, Zustand store, templates config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2900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PWA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38313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— installable sur mobile et desktop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42900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Logs &amp; Audit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38313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application.log, audit.log, errors.log — journaux complets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Rôles Utilisateurs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499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et périmètres d'action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307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et soumet ses plannings hebdomadaires. Participe aux réunions et missions. Accès à ses propres données.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73936"/>
            <a:ext cx="64008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865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1214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 les plannings soumis par les responsables. Visualise l'ensemble des plannings de son équipe.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87752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791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 (Directeur Général)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93522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ou retourne les plannings consolidés avec commentaires. Vue globale des statistiques.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01568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93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749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complète: utilisateurs, salles, plannings, notifications, audit. Accès au panel d'administration.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1538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15384"/>
            <a:ext cx="64008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3068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45628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droits ADMIN + sauvegardes base de données, gestion des fichiers système, opérations BDD.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Authentification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774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 avec 2FA optionnel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4813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email + mot de passe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80136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2FA/TOTP: code 6 chiffres (30s)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214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JWT: 15 minutes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44144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JWT: 7 jours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7614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'Mot de passe oublié' par email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0815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anti-brute-force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0156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mots de passe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7216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invalidation à la déconnexion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utilisateur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1444752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13898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 crée l'utilisateur (nom, email, rôle)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066544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d'activation envoyé automatiquement par email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688336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26334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clique le lien → définit son mot de passe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310128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32552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actif immédiatement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931920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8770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Option: activer le 2FA depuis le profil utilisateur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499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temps réel — accessible à tous les rôles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19659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 libres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14400"/>
            <a:ext cx="196596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 occupées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14400"/>
            <a:ext cx="196596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du jour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20840" y="91440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914400"/>
            <a:ext cx="19659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 en attente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1874519"/>
            <a:ext cx="4114800" cy="1186543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Semaine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2677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d'occupation salles (%)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2677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réservés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2677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642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 soumis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2677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852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actives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8745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Salles Actuelles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240280"/>
            <a:ext cx="128016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240280"/>
            <a:ext cx="128016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240280"/>
            <a:ext cx="128016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52360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2660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2660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OCCUPÉE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52360" y="2660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10:00-12:00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563983"/>
            <a:ext cx="85953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571239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35247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Avancé (ADMIN / SUPER_ADMIN uniquement)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909567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plage de dates  ·  KPIs réunions/missions/plannings  ·  Taux d'acceptation  ·  Tableau de charge utilisateur  ·  Export CSV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Planning –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d'approbation en 4 étapes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63040"/>
            <a:ext cx="173736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1691640"/>
            <a:ext cx="530352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4630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7752" y="1463040"/>
            <a:ext cx="17373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1691640"/>
            <a:ext cx="530352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55464" y="14630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55464" y="1463040"/>
            <a:ext cx="173736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EN_CONSOLIDATION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2824" y="1691640"/>
            <a:ext cx="530352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23176" y="14630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23176" y="1463040"/>
            <a:ext cx="17373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58968" y="2011680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468880"/>
            <a:ext cx="256032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2468880"/>
            <a:ext cx="2560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5786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RETOURNÉ (pour corrections)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73352" y="2715768"/>
            <a:ext cx="253288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3352" y="2011680"/>
            <a:ext cx="36576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468880"/>
            <a:ext cx="12801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257860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du module Planning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547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hebdomadaire avec navigation (semaine précédente/suivante)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6118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47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de statuts cliquables (filtres rapides)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867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803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iCalendar (.ics) — import dans agenda externe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867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803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de soumission et validation tracées automatiquement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12394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de retour visibles si planning RETOURNÉ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Planning – Actions par Rôle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951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faire quoi dans le module Planning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4630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960120"/>
            <a:ext cx="14630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960120"/>
            <a:ext cx="10058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960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960120"/>
            <a:ext cx="10058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960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344168"/>
            <a:ext cx="21031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344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planning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1344168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344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31920" y="1344168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1344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1344168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344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344168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344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1728216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728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17282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1728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31920" y="17282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1728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94960" y="17282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17282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17282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7282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2112264"/>
            <a:ext cx="21031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1122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68880" y="2112264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1122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31920" y="2112264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21122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394960" y="21122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21122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21122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1122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2496312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496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68880" y="24963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0" y="2496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931920" y="24963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0" y="2496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94960" y="249631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00800" y="249631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65760" y="2880360"/>
            <a:ext cx="21031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2880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68880" y="2880360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31920" y="2880360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3192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394960" y="2880360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0" y="2880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400800" y="2880360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2880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65760" y="326440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2644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468880" y="32644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68880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931920" y="32644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31920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394960" y="326440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94960" y="3264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00800" y="326440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3264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65760" y="3648456"/>
            <a:ext cx="21031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36484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tous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468880" y="3648456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68880" y="3648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931920" y="3648456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31920" y="3648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394960" y="3648456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94960" y="36484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400800" y="3648456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00800" y="36484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365760" y="4008189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365760" y="4021905"/>
            <a:ext cx="8412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4113345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créer un planning (RESPONSABLE)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354580" y="4364805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Sélectionner la semaine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2354580" y="4416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Enregistrer en BROUILLON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02920" y="4405953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Cliquer "Nouveau Planning"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5349240" y="4341945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Ajouter événements (REUNION, MISSION, DEPLACEMENT…)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02920" y="466198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Enregistrer en BROUILLON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5349240" y="4698561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Cliquer "Soumettre" pour lancer le workflow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Réunions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60248" y="52991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et gestion des réunions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1691640" cy="822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1124712"/>
            <a:ext cx="429768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9144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914400"/>
            <a:ext cx="16916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33088" y="1124712"/>
            <a:ext cx="429768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856" y="9144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2856" y="914400"/>
            <a:ext cx="169164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54496" y="1124712"/>
            <a:ext cx="429768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9144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84264" y="914400"/>
            <a:ext cx="1691640" cy="822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5008" y="914400"/>
            <a:ext cx="9144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65008" y="1033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1600200"/>
            <a:ext cx="4114800" cy="3154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160020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600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créer une réunion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2157984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157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" y="2084832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"Nouvelle Réunion"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2551176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" y="2478024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Remplir: Titre, Ordre du jour, Direction/Projet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944368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2871216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date et heure (validation automatique)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337560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" y="3264408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salle disponible (conflits détectés)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730752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365760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lien visioconférence (Meet/Zoom/Teams)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123944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123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" y="4050792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les participants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4517136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517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" y="4443984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ou Envoyer directement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1600200"/>
            <a:ext cx="4206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1600200"/>
            <a:ext cx="42062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1600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800600" y="220370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208483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disponibilité en temps réel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00600" y="259689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247802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conflits de salles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00600" y="29900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287121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Filtres: titre, salle, direction, projet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338328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326440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(10 éléments par page)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00600" y="37764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65760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 / Terminer / Rouvrir selon rôle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00600" y="416966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405079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vidéoconférence (Meet, Zoom, Teams)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00600" y="456285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444398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peut: compléter, annuler, rouvrir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Salles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8071" y="49551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et réservation des salles de réunion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1078992"/>
            <a:ext cx="10515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0789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Bât. Principal – RDC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86868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019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Vidéoprojecteur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98448" y="1901952"/>
            <a:ext cx="59436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19019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914400"/>
            <a:ext cx="27432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10515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789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OCCUPÉE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Bât. Principal – 1er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1901952"/>
            <a:ext cx="86868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9019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Vidéoprojecteur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24528" y="1901952"/>
            <a:ext cx="59436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19019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9144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914400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80960" y="1078992"/>
            <a:ext cx="10515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0789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Bât. Annexe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1901952"/>
            <a:ext cx="86868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9019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Vidéoprojecteur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50608" y="1901952"/>
            <a:ext cx="59436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19019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788920"/>
            <a:ext cx="8595360" cy="1920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2788920"/>
            <a:ext cx="85953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salle (ADMIN/SUPER_ADMIN) — Panel Admin → Onglet Salles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3375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"Nouvelle Salle"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37560" y="33375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Nom, Capacité, Localisation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33375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3796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horaires d'ouverture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81304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40" y="3749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équipements (tags)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37560" y="381304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657600" y="3749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 la salle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7920" y="381304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5"/>
                </a:solidFill>
              </a:rPr>
              <a:t>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37960" y="3749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24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Calendrier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123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grille hebdomadaire et journalière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13533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7007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20482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395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743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0906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34381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7856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41330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44805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1005840"/>
            <a:ext cx="10515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005840"/>
            <a:ext cx="10515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1005840"/>
            <a:ext cx="10515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1005840"/>
            <a:ext cx="10515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1005840"/>
            <a:ext cx="10515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1005840"/>
            <a:ext cx="10515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1005840"/>
            <a:ext cx="10515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005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88720" y="135331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135331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135331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135331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135331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1353312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1353312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170078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40280" y="170078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170078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3400" y="170078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4960" y="170078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1700784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1700784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88720" y="204825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40280" y="204825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204825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43400" y="204825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0" y="204825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46520" y="2048256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0" y="2048256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88720" y="239572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40280" y="239572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1840" y="239572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239572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0" y="239572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46520" y="2395728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98080" y="2395728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8720" y="274320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40280" y="274320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91840" y="274320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43400" y="274320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94960" y="274320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46520" y="2743200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98080" y="2743200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8720" y="309067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40280" y="309067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91840" y="309067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43400" y="309067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94960" y="3090672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6520" y="3090672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98080" y="3090672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88720" y="343814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40280" y="343814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91840" y="343814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343814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94960" y="3438144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46520" y="3438144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98080" y="3438144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8720" y="378561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240280" y="378561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378561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343400" y="378561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94960" y="3785616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46520" y="3785616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98080" y="3785616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88720" y="413308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240280" y="413308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91840" y="413308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43400" y="413308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394960" y="4133088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46520" y="4133088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98080" y="4133088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88720" y="448056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40280" y="448056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91840" y="448056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343400" y="448056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394960" y="4480560"/>
            <a:ext cx="10515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46520" y="4480560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498080" y="4480560"/>
            <a:ext cx="105156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88720" y="1700784"/>
            <a:ext cx="1051560" cy="69494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188720" y="1700784"/>
            <a:ext cx="1051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291840" y="2395728"/>
            <a:ext cx="105156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91840" y="23957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5394960" y="3090672"/>
            <a:ext cx="1051560" cy="52120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394960" y="3090672"/>
            <a:ext cx="1051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1188720" y="4663440"/>
            <a:ext cx="201168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444752" y="4645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3749040" y="4663440"/>
            <a:ext cx="201168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05072" y="4645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6309360" y="4663440"/>
            <a:ext cx="201168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565392" y="4645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/ Formation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Missions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57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à tous les rôles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mission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50876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4173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"Missions" → "Nouvelle Mission"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167128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0756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le Titre et le Lieu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7340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dates/heures de début et de fin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483864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39242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à une Direction et/ou Projet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4223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05079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54533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417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 peuvent créer des missions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195681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8288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titre, lieu, projet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236829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240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direction et statut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277977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6517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(liste paginée)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319125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063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Annuler/supprimer une mission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60273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474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projets et directions associés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401421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8862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créateur de la mission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442569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297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Date/heure de début et fin précises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Projets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983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projets et fichiers associés (DG / ADMIN)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914400"/>
            <a:ext cx="2560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1124712"/>
            <a:ext cx="320040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1440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914400"/>
            <a:ext cx="2560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PAUSE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1124712"/>
            <a:ext cx="320040" cy="36576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91440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914400"/>
            <a:ext cx="256032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645920"/>
            <a:ext cx="19933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645920"/>
            <a:ext cx="199339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50592" y="1645920"/>
            <a:ext cx="19933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50592" y="1645920"/>
            <a:ext cx="199339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actifs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26864" y="1645920"/>
            <a:ext cx="19933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1645920"/>
            <a:ext cx="1993392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liées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03136" y="1645920"/>
            <a:ext cx="19933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03136" y="1645920"/>
            <a:ext cx="199339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liées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578608"/>
            <a:ext cx="4114800" cy="21488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578608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578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projet (DG / ADMIN)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1546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"Projets" → "Nouveau Projet"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36393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3547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Renseigner: Nom, Code unique, Description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412394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" y="40325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statut (ACTIF par défaut)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0624" y="446227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8287" y="44770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451713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63440" y="2578608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2578608"/>
            <a:ext cx="42062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578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00600" y="32186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063240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téléchargement / suppression de fichiers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00600" y="37033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547872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missions et réunions associées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800600" y="41879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4032504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nom, code, description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10978" y="4510097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09170" y="4331789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statut (Actif ↔ En pause ↔ Terminé)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-6894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et SUPER_ADMIN — 13 sections disponibles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0848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14400"/>
            <a:ext cx="457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9875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2984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globaux, taux de validation, charge utilisateur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96312" y="914400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914400"/>
            <a:ext cx="20848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914400"/>
            <a:ext cx="4572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44952" y="9875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87752" y="12984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rôles, activer/désactiver, reset mdp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18304" y="914400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18304" y="914400"/>
            <a:ext cx="208483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914400"/>
            <a:ext cx="4572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66944" y="9875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9744" y="12984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 de tous les plannings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0296" y="914400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0296" y="914400"/>
            <a:ext cx="20848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0296" y="914400"/>
            <a:ext cx="457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0296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88936" y="9875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31736" y="12984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modifier, désactiver les salles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1755648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1755648"/>
            <a:ext cx="20848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755648"/>
            <a:ext cx="457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18288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1396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et paramètres de notification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96312" y="1755648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96312" y="1755648"/>
            <a:ext cx="20848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96312" y="1755648"/>
            <a:ext cx="457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044952" y="18288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d'audit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87752" y="21396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 toutes les actions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8304" y="1755648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18304" y="1755648"/>
            <a:ext cx="208483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1755648"/>
            <a:ext cx="457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66944" y="18288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Permissions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9744" y="21396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droits par rôle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40296" y="1755648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40296" y="1755648"/>
            <a:ext cx="20848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0296" y="1755648"/>
            <a:ext cx="457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0296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88936" y="18288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31736" y="21396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2FA/TOTP, paramètres sécurité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2596896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74320" y="2596896"/>
            <a:ext cx="208483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2596896"/>
            <a:ext cx="45720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25968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22960" y="26700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29809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globaux de la plateforme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496312" y="2596896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496312" y="2596896"/>
            <a:ext cx="208483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96312" y="2596896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96312" y="25968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044952" y="26700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587752" y="29809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Unités organisationnelles avec codes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18304" y="2596896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18304" y="2596896"/>
            <a:ext cx="20848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18304" y="2596896"/>
            <a:ext cx="457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18304" y="25968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266944" y="26700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809744" y="29809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admin de tous les projets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940296" y="2596896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940296" y="2596896"/>
            <a:ext cx="208483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40296" y="2596896"/>
            <a:ext cx="4572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40296" y="25968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488936" y="26700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★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031736" y="29809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— Backup/restauration BDD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74320" y="3438144"/>
            <a:ext cx="20848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274320" y="3438144"/>
            <a:ext cx="208483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3438144"/>
            <a:ext cx="4572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34381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22960" y="35112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★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365760" y="38221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— Gestion des fichiers système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Gestion des Utilisateurs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991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→ Onglet Utilisateurs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19659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utilisateur (ADMIN)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63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389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→ Onglet Utilisateurs → "Nouvel Utilisateur"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0128" y="146304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463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0168" y="1389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Renseigner: Nom complet, Email, Rôle, Direction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463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83096" y="1389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"Créer" → lien d'activation envoyé par email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49424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2176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clique le lien → définit son mot de passe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2176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actif immédiatement après définition du mdp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09067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90672"/>
            <a:ext cx="64008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1821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rôle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34747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RESPONSABLE → CONSOLIDATEUR, DG, ADMIN…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18688" y="309067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3090672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31821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74136" y="34747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l'accès sans supprimer le compte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63056" y="309067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3090672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31821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mdp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18504" y="34747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 nouveau lien de réinitialisation par email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95935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959352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4050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" y="43434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définitivement un compte utilisateur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18688" y="395935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18688" y="3959352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4136" y="4050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74136" y="43434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par nom ou adresse email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63056" y="395935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63056" y="3959352"/>
            <a:ext cx="6400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8504" y="4050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18504" y="43434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rôle (RESP, CONS, DG…) et par statut actif/inactif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Complète des Permissions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par rôle et fonctionnalité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Gestion Planning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960120"/>
            <a:ext cx="10515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9601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960120"/>
            <a:ext cx="10515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9601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914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960120"/>
            <a:ext cx="10515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9601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960120"/>
            <a:ext cx="105156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9601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225296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22529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planning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122529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12252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122529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2252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225296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22529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06440" y="122529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2252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122529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12252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1490472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1490472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planning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88920" y="149047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149047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840480" y="149047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149047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1490472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4904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06440" y="149047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149047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58000" y="149047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49047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0040" y="1755648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175564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planning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88920" y="175564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88920" y="175564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0" y="175564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175564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92040" y="1755648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1755648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806440" y="175564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175564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58000" y="175564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175564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20040" y="2020824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02082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planning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88920" y="202082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88920" y="202082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840480" y="202082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0" y="202082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92040" y="2020824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92040" y="202082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806440" y="202082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6440" y="202082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858000" y="202082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202082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20040" y="2286000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228600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planning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88920" y="2286000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88920" y="22860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840480" y="2286000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0" y="22860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92040" y="2286000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92040" y="228600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806440" y="2286000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06440" y="22860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858000" y="2286000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0" y="22860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320040" y="2551176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255117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réunions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788920" y="2551176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88920" y="255117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3840480" y="2551176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0480" y="255117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4892040" y="2551176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92040" y="255117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806440" y="2551176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06440" y="255117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6858000" y="2551176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58000" y="255117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20040" y="2816352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" y="2816352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salles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788920" y="2816352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88920" y="28163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840480" y="2816352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40480" y="28163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892040" y="2816352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92040" y="281635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806440" y="2816352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06440" y="28163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6858000" y="2816352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58000" y="28163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20040" y="3081528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0040" y="308152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utilisateurs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2788920" y="3081528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88920" y="308152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3840480" y="3081528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40480" y="308152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892040" y="3081528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892040" y="3081528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806440" y="3081528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806440" y="308152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6858000" y="3081528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58000" y="308152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20040" y="3346704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0040" y="334670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788920" y="3346704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788920" y="334670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3840480" y="3346704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840480" y="334670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892040" y="3346704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892040" y="334670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806440" y="3346704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06440" y="334670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6858000" y="3346704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58000" y="334670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320040" y="3611880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20040" y="361188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avancées / CSV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2788920" y="3611880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88920" y="361188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3840480" y="3611880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840480" y="361188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4892040" y="3611880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892040" y="361188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5806440" y="3611880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806440" y="361188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6858000" y="3611880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858000" y="361188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320040" y="3877056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20040" y="387705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projets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2788920" y="387705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788920" y="38770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840480" y="387705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840480" y="38770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4892040" y="3877056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892040" y="387705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5806440" y="387705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806440" y="38770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6858000" y="3877056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858000" y="38770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320040" y="4142232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20040" y="4142232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d'audit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2788920" y="414223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788920" y="414223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3840480" y="414223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840480" y="414223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4892040" y="4142232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892040" y="41422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5806440" y="414223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806440" y="414223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6858000" y="4142232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858000" y="414223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320040" y="4407408"/>
            <a:ext cx="246888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20040" y="440740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BDD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2788920" y="440740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788920" y="440740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3840480" y="440740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840480" y="440740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4892040" y="4407408"/>
            <a:ext cx="91440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892040" y="4407408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5806440" y="440740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806440" y="440740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5" name="Shape 173"/>
          <p:cNvSpPr/>
          <p:nvPr/>
        </p:nvSpPr>
        <p:spPr>
          <a:xfrm>
            <a:off x="6858000" y="4407408"/>
            <a:ext cx="1051560" cy="2651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858000" y="440740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320040" y="4672584"/>
            <a:ext cx="246888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20040" y="467258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système</a:t>
            </a:r>
            <a:endParaRPr lang="en-US" sz="950" dirty="0"/>
          </a:p>
        </p:txBody>
      </p:sp>
      <p:sp>
        <p:nvSpPr>
          <p:cNvPr id="179" name="Shape 177"/>
          <p:cNvSpPr/>
          <p:nvPr/>
        </p:nvSpPr>
        <p:spPr>
          <a:xfrm>
            <a:off x="2788920" y="467258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788920" y="467258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1" name="Shape 179"/>
          <p:cNvSpPr/>
          <p:nvPr/>
        </p:nvSpPr>
        <p:spPr>
          <a:xfrm>
            <a:off x="3840480" y="467258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840480" y="467258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3" name="Shape 181"/>
          <p:cNvSpPr/>
          <p:nvPr/>
        </p:nvSpPr>
        <p:spPr>
          <a:xfrm>
            <a:off x="4892040" y="4672584"/>
            <a:ext cx="9144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892040" y="467258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5" name="Shape 183"/>
          <p:cNvSpPr/>
          <p:nvPr/>
        </p:nvSpPr>
        <p:spPr>
          <a:xfrm>
            <a:off x="5806440" y="467258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806440" y="467258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7" name="Shape 185"/>
          <p:cNvSpPr/>
          <p:nvPr/>
        </p:nvSpPr>
        <p:spPr>
          <a:xfrm>
            <a:off x="6858000" y="4672584"/>
            <a:ext cx="105156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858000" y="467258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5836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70432" y="1051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hiérarchiques avec permissions précises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65836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workflow Planning (Brouillon → Validé)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65836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70432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workflow Réunions (Brouillon → Terminé)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65836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0432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dans le Panel Administration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65836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8620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à chaque changement de statut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1965960" cy="274320"/>
          </a:xfrm>
          <a:prstGeom prst="rect">
            <a:avLst/>
          </a:prstGeom>
          <a:solidFill>
            <a:srgbClr val="1B30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iCal &amp; CSV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4617720"/>
            <a:ext cx="1965960" cy="274320"/>
          </a:xfrm>
          <a:prstGeom prst="rect">
            <a:avLst/>
          </a:prstGeom>
          <a:solidFill>
            <a:srgbClr val="1B30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mobile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4617720"/>
            <a:ext cx="1965960" cy="274320"/>
          </a:xfrm>
          <a:prstGeom prst="rect">
            <a:avLst/>
          </a:prstGeom>
          <a:solidFill>
            <a:srgbClr val="1B30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Audit complets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12280" y="4617720"/>
            <a:ext cx="1965960" cy="274320"/>
          </a:xfrm>
          <a:prstGeom prst="rect">
            <a:avLst/>
          </a:prstGeom>
          <a:solidFill>
            <a:srgbClr val="1B30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 Docs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1560</Words>
  <Application>Microsoft Office PowerPoint</Application>
  <PresentationFormat>Affichage à l'écran (16:9)</PresentationFormat>
  <Paragraphs>477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Gestion Planning</dc:title>
  <dc:subject>PptxGenJS Presentation</dc:subject>
  <dc:creator>Gestion Planning</dc:creator>
  <cp:lastModifiedBy>CCBM TECHNOLOGIES</cp:lastModifiedBy>
  <cp:revision>11</cp:revision>
  <dcterms:created xsi:type="dcterms:W3CDTF">2026-04-06T10:58:26Z</dcterms:created>
  <dcterms:modified xsi:type="dcterms:W3CDTF">2026-04-20T09:41:02Z</dcterms:modified>
</cp:coreProperties>
</file>