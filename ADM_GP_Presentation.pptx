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94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6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267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1E3A6E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Shape 3"/>
          <p:cNvSpPr/>
          <p:nvPr/>
        </p:nvSpPr>
        <p:spPr>
          <a:xfrm>
            <a:off x="7772400" y="3474720"/>
            <a:ext cx="1645920" cy="1645920"/>
          </a:xfrm>
          <a:prstGeom prst="ellipse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6" name="Text 4"/>
          <p:cNvSpPr/>
          <p:nvPr/>
        </p:nvSpPr>
        <p:spPr>
          <a:xfrm>
            <a:off x="685800" y="502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DE DÉVELOPPEMENT MUNICIPAL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 GP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 Planning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32004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gestion intégrée des plannings,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réunions, missions et projets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4114800" cy="91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685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 •   Mai 2026   •   Usage Interne</a:t>
            </a:r>
            <a:endParaRPr lang="en-US" sz="1200" dirty="0"/>
          </a:p>
        </p:txBody>
      </p:sp>
      <p:pic>
        <p:nvPicPr>
          <p:cNvPr id="13" name="Picture 12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25146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DE L'APPLICATION ADM GP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6" name="Shape 4"/>
          <p:cNvSpPr/>
          <p:nvPr/>
        </p:nvSpPr>
        <p:spPr>
          <a:xfrm>
            <a:off x="8915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7" name="Text 5"/>
          <p:cNvSpPr/>
          <p:nvPr/>
        </p:nvSpPr>
        <p:spPr>
          <a:xfrm>
            <a:off x="8915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bord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9202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Shape 8"/>
          <p:cNvSpPr/>
          <p:nvPr/>
        </p:nvSpPr>
        <p:spPr>
          <a:xfrm>
            <a:off x="22631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1" name="Text 9"/>
          <p:cNvSpPr/>
          <p:nvPr/>
        </p:nvSpPr>
        <p:spPr>
          <a:xfrm>
            <a:off x="22631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659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918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Shape 12"/>
          <p:cNvSpPr/>
          <p:nvPr/>
        </p:nvSpPr>
        <p:spPr>
          <a:xfrm>
            <a:off x="36347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5" name="Text 13"/>
          <p:cNvSpPr/>
          <p:nvPr/>
        </p:nvSpPr>
        <p:spPr>
          <a:xfrm>
            <a:off x="36347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375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Shape 16"/>
          <p:cNvSpPr/>
          <p:nvPr/>
        </p:nvSpPr>
        <p:spPr>
          <a:xfrm>
            <a:off x="50063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9" name="Text 17"/>
          <p:cNvSpPr/>
          <p:nvPr/>
        </p:nvSpPr>
        <p:spPr>
          <a:xfrm>
            <a:off x="50063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091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2" name="Shape 20"/>
          <p:cNvSpPr/>
          <p:nvPr/>
        </p:nvSpPr>
        <p:spPr>
          <a:xfrm>
            <a:off x="63779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3" name="Text 21"/>
          <p:cNvSpPr/>
          <p:nvPr/>
        </p:nvSpPr>
        <p:spPr>
          <a:xfrm>
            <a:off x="63779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✈️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0807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4066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6" name="Shape 24"/>
          <p:cNvSpPr/>
          <p:nvPr/>
        </p:nvSpPr>
        <p:spPr>
          <a:xfrm>
            <a:off x="77495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7" name="Text 25"/>
          <p:cNvSpPr/>
          <p:nvPr/>
        </p:nvSpPr>
        <p:spPr>
          <a:xfrm>
            <a:off x="77495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4523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0" name="Shape 28"/>
          <p:cNvSpPr/>
          <p:nvPr/>
        </p:nvSpPr>
        <p:spPr>
          <a:xfrm>
            <a:off x="8915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1" name="Text 29"/>
          <p:cNvSpPr/>
          <p:nvPr/>
        </p:nvSpPr>
        <p:spPr>
          <a:xfrm>
            <a:off x="8915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📁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943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9202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4" name="Shape 32"/>
          <p:cNvSpPr/>
          <p:nvPr/>
        </p:nvSpPr>
        <p:spPr>
          <a:xfrm>
            <a:off x="22631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5" name="Text 33"/>
          <p:cNvSpPr/>
          <p:nvPr/>
        </p:nvSpPr>
        <p:spPr>
          <a:xfrm>
            <a:off x="22631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9659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2918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8" name="Shape 36"/>
          <p:cNvSpPr/>
          <p:nvPr/>
        </p:nvSpPr>
        <p:spPr>
          <a:xfrm>
            <a:off x="36347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9" name="Text 37"/>
          <p:cNvSpPr/>
          <p:nvPr/>
        </p:nvSpPr>
        <p:spPr>
          <a:xfrm>
            <a:off x="36347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3375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Répertoire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6634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2" name="Shape 40"/>
          <p:cNvSpPr/>
          <p:nvPr/>
        </p:nvSpPr>
        <p:spPr>
          <a:xfrm>
            <a:off x="50063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3" name="Text 41"/>
          <p:cNvSpPr/>
          <p:nvPr/>
        </p:nvSpPr>
        <p:spPr>
          <a:xfrm>
            <a:off x="50063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7091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0350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6" name="Shape 44"/>
          <p:cNvSpPr/>
          <p:nvPr/>
        </p:nvSpPr>
        <p:spPr>
          <a:xfrm>
            <a:off x="63779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7" name="Text 45"/>
          <p:cNvSpPr/>
          <p:nvPr/>
        </p:nvSpPr>
        <p:spPr>
          <a:xfrm>
            <a:off x="63779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0807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4066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0" name="Shape 48"/>
          <p:cNvSpPr/>
          <p:nvPr/>
        </p:nvSpPr>
        <p:spPr>
          <a:xfrm>
            <a:off x="77495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1" name="Text 49"/>
          <p:cNvSpPr/>
          <p:nvPr/>
        </p:nvSpPr>
        <p:spPr>
          <a:xfrm>
            <a:off x="77495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74523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54" name="Picture 53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RÔLES ET PERMISSIONS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Hiérarchie des accès dans ADM GP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16002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Text 6"/>
          <p:cNvSpPr/>
          <p:nvPr/>
        </p:nvSpPr>
        <p:spPr>
          <a:xfrm>
            <a:off x="576072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 et soumet les plannings hebdomadaires de sa direction.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réunions, missions et projets.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76272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11" name="Shape 9"/>
          <p:cNvSpPr/>
          <p:nvPr/>
        </p:nvSpPr>
        <p:spPr>
          <a:xfrm>
            <a:off x="2176272" y="1188720"/>
            <a:ext cx="160020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2249424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CONSOLIDATEUR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67712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Consolide les plannings soumis par les responsables avant validation.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multi-directions.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49624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15" name="Shape 13"/>
          <p:cNvSpPr/>
          <p:nvPr/>
        </p:nvSpPr>
        <p:spPr>
          <a:xfrm>
            <a:off x="3849624" y="1188720"/>
            <a:ext cx="160020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3922776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41064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Général — valide ou retourne les plannings consolidés.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complet en lecture.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522976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19" name="Shape 17"/>
          <p:cNvSpPr/>
          <p:nvPr/>
        </p:nvSpPr>
        <p:spPr>
          <a:xfrm>
            <a:off x="5522976" y="1188720"/>
            <a:ext cx="1600200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5596128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14416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système — gestion complète des utilisateurs,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salles, directions et paramètres.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96328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23" name="Shape 21"/>
          <p:cNvSpPr/>
          <p:nvPr/>
        </p:nvSpPr>
        <p:spPr>
          <a:xfrm>
            <a:off x="7196328" y="1188720"/>
            <a:ext cx="1600200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4" name="Text 22"/>
          <p:cNvSpPr/>
          <p:nvPr/>
        </p:nvSpPr>
        <p:spPr>
          <a:xfrm>
            <a:off x="7269480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 ADMIN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87768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total incluant journaux d'audit, sauvegardes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et documents système.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7" name="Picture 26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🔐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Authentification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 avec authentification à deux facteurs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🔐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de Connexion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sécurisé à l'application avec JWT et 2FA optionnel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de Connexion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mot de passe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2FA (TOTP via QR Code)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compte par email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de compte à la première connexion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JWT 15 min + refresh 7 jours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de force du mot de passe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Accueil Public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du planning journalier accessible sans connexion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🏠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 Public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temps réel accessible sans authentification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 Public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sans connexion requise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 des salles (timeline visuelle)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 du jour en temps réel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 en cours par direction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Onglets : Salles / Missions / Calendrier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Rafraîchissement automatique toutes les 5 min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📊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et statistiques en temps réel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📊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des activités et indicateurs clés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Salles libres / occupées en temps réel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 programmées du jour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Plannings en attente de validation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d'occupation (barre de progression %)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de la semaine en cours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des statistiques avancées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📅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Calendrier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Vues mois, semaine et jour unifiées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📅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Calendrier Unifié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temporelle avec codes couleur par type d'événement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Calendrier Unifié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Mois / Semaine / Jour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couleur par type d'événement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de l'heure actuelle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temporelle intuitive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iCal, CSV, PDF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complet au clic sur un événement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des Plannings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 validation hebdomadaire en 4 étapes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DE VALIDATION DES PLANNINGS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669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 de vie d'un planning hebdomadaire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7" name="Shape 5"/>
          <p:cNvSpPr/>
          <p:nvPr/>
        </p:nvSpPr>
        <p:spPr>
          <a:xfrm>
            <a:off x="502920" y="1143000"/>
            <a:ext cx="182880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Shape 6"/>
          <p:cNvSpPr/>
          <p:nvPr/>
        </p:nvSpPr>
        <p:spPr>
          <a:xfrm>
            <a:off x="1874520" y="960120"/>
            <a:ext cx="365760" cy="36576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9" name="Text 7"/>
          <p:cNvSpPr/>
          <p:nvPr/>
        </p:nvSpPr>
        <p:spPr>
          <a:xfrm>
            <a:off x="187452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BROUILLON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607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607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 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 le planning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18288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65176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5" name="Shape 13"/>
          <p:cNvSpPr/>
          <p:nvPr/>
        </p:nvSpPr>
        <p:spPr>
          <a:xfrm>
            <a:off x="2651760" y="1143000"/>
            <a:ext cx="1828800" cy="320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Shape 14"/>
          <p:cNvSpPr/>
          <p:nvPr/>
        </p:nvSpPr>
        <p:spPr>
          <a:xfrm>
            <a:off x="4023360" y="960120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7" name="Text 15"/>
          <p:cNvSpPr/>
          <p:nvPr/>
        </p:nvSpPr>
        <p:spPr>
          <a:xfrm>
            <a:off x="402336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2491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SOUMIS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2491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2491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révision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18288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80060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3" name="Shape 21"/>
          <p:cNvSpPr/>
          <p:nvPr/>
        </p:nvSpPr>
        <p:spPr>
          <a:xfrm>
            <a:off x="4800600" y="1143000"/>
            <a:ext cx="1828800" cy="320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4" name="Shape 22"/>
          <p:cNvSpPr/>
          <p:nvPr/>
        </p:nvSpPr>
        <p:spPr>
          <a:xfrm>
            <a:off x="6172200" y="96012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5" name="Text 23"/>
          <p:cNvSpPr/>
          <p:nvPr/>
        </p:nvSpPr>
        <p:spPr>
          <a:xfrm>
            <a:off x="617220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7375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CONSOLIDATION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7375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Consolidateur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7375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plannings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29400" y="18288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694944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1" name="Shape 29"/>
          <p:cNvSpPr/>
          <p:nvPr/>
        </p:nvSpPr>
        <p:spPr>
          <a:xfrm>
            <a:off x="6949440" y="1143000"/>
            <a:ext cx="182880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2" name="Shape 30"/>
          <p:cNvSpPr/>
          <p:nvPr/>
        </p:nvSpPr>
        <p:spPr>
          <a:xfrm>
            <a:off x="8321040" y="960120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3" name="Text 31"/>
          <p:cNvSpPr/>
          <p:nvPr/>
        </p:nvSpPr>
        <p:spPr>
          <a:xfrm>
            <a:off x="832104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2259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2259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02259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" y="338328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8" name="Text 36"/>
          <p:cNvSpPr/>
          <p:nvPr/>
        </p:nvSpPr>
        <p:spPr>
          <a:xfrm>
            <a:off x="640080" y="34015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 RETOURNÉ avec commentaires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(DG → Responsable)  —  Notifications automatiques à chaque changement de statut  •  Historique complet conservé dans les journaux d'audit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40" name="Picture 39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📋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Plannings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hebdomadaire des activités par direction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Plannings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par semaine (précédente / suivante)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par statut et par responsable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synthétique de toutes les directions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au format iCalendar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avec commentaires (DG → Responsable)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à chaque étape du workflow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🤝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Réunions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et réservation automatique de salles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🤝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Réunions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collaborative avec détection de conflits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Réunions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avec détection automatique de conflits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automatique de la salle adaptée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participants et invitations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Liens visioconférence intégrés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Statuts : Brouillon → Confirmé → Annulé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Rappels automatiques par email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✈️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déplacements et missions terrain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✈️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Missions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des missions et déplacements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Missions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Lieu, dates de départ et retour, description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Assignation des agents participants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avec une direction et un projet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multi-critères avancés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sur le calendrier unifié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des données de mission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19456"/>
            <a:ext cx="7680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Trebuchet MS"/>
              </a:rPr>
              <a:t>WORKFLOW DE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Trebuchet MS"/>
              </a:rPr>
              <a:t>Cycle de validation d'une réunion ou d'une mission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37360"/>
            <a:ext cx="137160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137160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2121408"/>
            <a:ext cx="1261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563EB"/>
                </a:solidFill>
                <a:latin typeface="Trebuchet MS"/>
              </a:rPr>
              <a:t>RESPONSABLE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34155"/>
                </a:solidFill>
                <a:latin typeface="Trebuchet MS"/>
              </a:rPr>
              <a:t>crée la réunion / la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221991"/>
            <a:ext cx="36576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0">
                <a:solidFill>
                  <a:srgbClr val="F59E0B"/>
                </a:solidFill>
                <a:latin typeface="Calibri"/>
              </a:rPr>
              <a:t>→</a:t>
            </a:r>
          </a:p>
        </p:txBody>
      </p:sp>
      <p:sp>
        <p:nvSpPr>
          <p:cNvPr id="10" name="Diamond 9"/>
          <p:cNvSpPr/>
          <p:nvPr/>
        </p:nvSpPr>
        <p:spPr>
          <a:xfrm>
            <a:off x="2057400" y="1783080"/>
            <a:ext cx="1417320" cy="1280160"/>
          </a:xfrm>
          <a:prstGeom prst="diamond">
            <a:avLst/>
          </a:prstGeom>
          <a:solidFill>
            <a:srgbClr val="F59E0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03120" y="1993392"/>
            <a:ext cx="13258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Coordinateur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projet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141732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oui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D97706"/>
                </a:solidFill>
                <a:latin typeface="Calibri"/>
              </a:rP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324612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563EB"/>
                </a:solidFill>
                <a:latin typeface="Calibri"/>
              </a:rPr>
              <a:t>non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269748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D97706"/>
                </a:solidFill>
                <a:latin typeface="Calibri"/>
              </a:rPr>
              <a:t>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39" y="1325880"/>
            <a:ext cx="164592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03903" y="1399032"/>
            <a:ext cx="1536192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4748B"/>
                </a:solidFill>
                <a:latin typeface="Trebuchet MS"/>
              </a:rPr>
              <a:t>DRAFT  ·  Étape 1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4748B"/>
                </a:solidFill>
                <a:latin typeface="Trebuchet MS"/>
              </a:rPr>
              <a:t>Responsable</a:t>
            </a:r>
          </a:p>
          <a:p>
            <a:pPr algn="ctr">
              <a:lnSpc>
                <a:spcPct val="100000"/>
              </a:lnSpc>
            </a:pPr>
            <a:r>
              <a:rPr sz="900" b="0" i="1">
                <a:solidFill>
                  <a:srgbClr val="D97706"/>
                </a:solidFill>
                <a:latin typeface="Trebuchet MS"/>
              </a:rPr>
              <a:t>→ approve-coordinator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2651760"/>
            <a:ext cx="164592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03903" y="2724912"/>
            <a:ext cx="1536192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563EB"/>
                </a:solidFill>
                <a:latin typeface="Trebuchet MS"/>
              </a:rPr>
              <a:t>CONSOLIDATOR_PENDING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4748B"/>
                </a:solidFill>
                <a:latin typeface="Trebuchet MS"/>
              </a:rPr>
              <a:t>Étape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D97706"/>
                </a:solidFill>
                <a:latin typeface="Calibri"/>
              </a:rPr>
              <a:t>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4" y="26974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D97706"/>
                </a:solidFill>
                <a:latin typeface="Calibri"/>
              </a:rPr>
              <a:t>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0" y="1737360"/>
            <a:ext cx="137160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0" y="1737360"/>
            <a:ext cx="1371600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24144" y="2121408"/>
            <a:ext cx="1261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D97706"/>
                </a:solidFill>
                <a:latin typeface="Trebuchet MS"/>
              </a:rPr>
              <a:t>Consolidateur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34155"/>
                </a:solidFill>
                <a:latin typeface="Trebuchet MS"/>
              </a:rPr>
              <a:t>projet → direction → 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304" y="2221991"/>
            <a:ext cx="36576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0">
                <a:solidFill>
                  <a:srgbClr val="F59E0B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737360"/>
            <a:ext cx="14630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15200" y="1737360"/>
            <a:ext cx="146304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70064" y="2103120"/>
            <a:ext cx="1353312" cy="950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59669"/>
                </a:solidFill>
                <a:latin typeface="Trebuchet MS"/>
              </a:rPr>
              <a:t>Validé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4748B"/>
                </a:solidFill>
                <a:latin typeface="Trebuchet MS"/>
              </a:rPr>
              <a:t>Réunion :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334155"/>
                </a:solidFill>
                <a:latin typeface="Trebuchet MS"/>
              </a:rPr>
              <a:t>CONFIRMED / SENT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4748B"/>
                </a:solidFill>
                <a:latin typeface="Trebuchet MS"/>
              </a:rPr>
              <a:t>Mission :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334155"/>
                </a:solidFill>
                <a:latin typeface="Trebuchet MS"/>
              </a:rPr>
              <a:t>CONFIRMED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10896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F59E0B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840480"/>
            <a:ext cx="8412480" cy="621792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3840480"/>
            <a:ext cx="81381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📅  Calendrier public</a:t>
            </a:r>
          </a:p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    —   dès la confirmation (réunion) ou l’envoi/confirmation (mission), l’événement est publié automatiquement sur le calendrier public.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ADM GP  •  Application de Gestion de Planning  •  ADM 2026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🏢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Salles de Réunion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et occupation en temps réel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🏢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Salles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complète des espaces et réservations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Salles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temps réel : Libre / Occupée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Capacité, localisation et équipements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: projecteur, wifi, climatisation…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directe depuis la carte des salles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/ désactivation d'une salle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 des réservations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📁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documentaire et suivi des ressources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📁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Projets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projets et documents associés par direction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Projets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projet et descriptions détaillées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Statuts : Actif / En pause / Terminé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Compteurs de missions et réunions liées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et gestion de documents projet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 de détail complet du projet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par direction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💬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Messagerie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temps réel entre agents et directions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💬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Messagerie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interne en temps réel via WebSocket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Messagerie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directs et canaux par direction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via WebSocket (Socket.IO)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présence en ligne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jointes : PDF, images, Word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à un message (citation)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 pour messages hors-ligne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Répertoire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Annuaire téléphonique organisationnel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📞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11480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Répertoire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Téléphonique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9260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64  Contacts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502920" y="3611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 Directions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Répertoire Téléphonique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Regroupement des contacts par direction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cliquables pour appel direct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multi-critères (nom, direction…)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annuaire au format Word et PDF paysage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2" name="Text 20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CRUD complète des contacts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4" name="Text 22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 consultation rapide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6" name="Picture 25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🔔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Notifications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in-app et email automatiques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🔔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multicanaux configurables par l'utilisateur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Notifications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 : In-app + Email automatique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 : réunions, plannings, missions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silencieux configurable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Préférences par type d'événement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temps réel sur l'icône de notifications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 paginé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👤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 Profil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compte et sécurité personnelle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👤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Utilisateur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informations personnelles et de la sécurité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Utilisateur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de profil (max 5 Mo, JPEG/PNG)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des informations personnelles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Changement de mot de passe sécurisé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de force du mot de passe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du 2FA avec QR Code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des connexions récentes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⚙️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Administration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 de contrôle complet de la plateforme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📈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Statistiques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et indicateurs de performance de la plateforme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Statistiques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actifs et inactifs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validation des plannings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des réunions et missions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par période (semaine, mois, année)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des rapports statistiques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 KPI en temps réel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👥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Utilisateurs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complète du cycle de vie des comptes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Utilisateurs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complète des utilisateurs (11 comptes)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avec envoi d'email d'activation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du rôle et de la direction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et désactivation des comptes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Réinitialisation du mot de passe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par rôle et par statut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📜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Journaux d'Audit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et immuable de toutes les actions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Journaux d'Audit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entrées auditées et tracées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: action, entité, utilisateur, période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Rétention minimum 12 mois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des journaux d'audit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 immuables (aucune suppression possible)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de chaque action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🛡️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Sauvegardes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sauvegardes PostgreSQL (Super Administrateur)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Sauvegardes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manuel déclenché à la demande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de notification automatique post-backup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Téléchargement des fichiers .sql générés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Restauration depuis un fichier de sauvegarde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avec date, heure et taille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Réservé exclusivement au Super Administrateur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22" name="Picture 21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🛠️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Technique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moderne, sécurisé et scalable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9" name="Picture 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669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 moderne, sécurisé et prêt pour la production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2651760" cy="3566160"/>
          </a:xfrm>
          <a:prstGeom prst="roundRect">
            <a:avLst>
              <a:gd name="adj" fmla="val 5172"/>
            </a:avLst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7" name="Shape 5"/>
          <p:cNvSpPr/>
          <p:nvPr/>
        </p:nvSpPr>
        <p:spPr>
          <a:xfrm>
            <a:off x="1508760" y="1234440"/>
            <a:ext cx="640080" cy="640080"/>
          </a:xfrm>
          <a:prstGeom prst="ellipse">
            <a:avLst/>
          </a:prstGeom>
          <a:solidFill>
            <a:srgbClr val="0D1F3C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Text 6"/>
          <p:cNvSpPr/>
          <p:nvPr/>
        </p:nvSpPr>
        <p:spPr>
          <a:xfrm>
            <a:off x="150876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715768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1" name="Text 9"/>
          <p:cNvSpPr/>
          <p:nvPr/>
        </p:nvSpPr>
        <p:spPr>
          <a:xfrm>
            <a:off x="914400" y="25786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6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3118104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v5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3520440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5" name="Text 13"/>
          <p:cNvSpPr/>
          <p:nvPr/>
        </p:nvSpPr>
        <p:spPr>
          <a:xfrm>
            <a:off x="914400" y="3383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4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3922776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7" name="Text 15"/>
          <p:cNvSpPr/>
          <p:nvPr/>
        </p:nvSpPr>
        <p:spPr>
          <a:xfrm>
            <a:off x="914400" y="37856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(state)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4325112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9" name="Text 17"/>
          <p:cNvSpPr/>
          <p:nvPr/>
        </p:nvSpPr>
        <p:spPr>
          <a:xfrm>
            <a:off x="914400" y="4187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7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291840" y="1143000"/>
            <a:ext cx="2651760" cy="3566160"/>
          </a:xfrm>
          <a:prstGeom prst="roundRect">
            <a:avLst>
              <a:gd name="adj" fmla="val 5172"/>
            </a:avLst>
          </a:prstGeom>
          <a:solidFill>
            <a:srgbClr val="1B3A6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1" name="Shape 19"/>
          <p:cNvSpPr/>
          <p:nvPr/>
        </p:nvSpPr>
        <p:spPr>
          <a:xfrm>
            <a:off x="4297680" y="1234440"/>
            <a:ext cx="640080" cy="640080"/>
          </a:xfrm>
          <a:prstGeom prst="ellipse">
            <a:avLst/>
          </a:prstGeom>
          <a:solidFill>
            <a:srgbClr val="0D1F3C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2" name="Text 20"/>
          <p:cNvSpPr/>
          <p:nvPr/>
        </p:nvSpPr>
        <p:spPr>
          <a:xfrm>
            <a:off x="429768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8328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520440" y="2715768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5" name="Text 23"/>
          <p:cNvSpPr/>
          <p:nvPr/>
        </p:nvSpPr>
        <p:spPr>
          <a:xfrm>
            <a:off x="3703320" y="25786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520440" y="3118104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7" name="Text 25"/>
          <p:cNvSpPr/>
          <p:nvPr/>
        </p:nvSpPr>
        <p:spPr>
          <a:xfrm>
            <a:off x="370332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520440" y="3520440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9" name="Text 27"/>
          <p:cNvSpPr/>
          <p:nvPr/>
        </p:nvSpPr>
        <p:spPr>
          <a:xfrm>
            <a:off x="3703320" y="3383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(15 min)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520440" y="3922776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1" name="Text 29"/>
          <p:cNvSpPr/>
          <p:nvPr/>
        </p:nvSpPr>
        <p:spPr>
          <a:xfrm>
            <a:off x="3703320" y="37856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Socket.IO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520440" y="4325112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3" name="Text 31"/>
          <p:cNvSpPr/>
          <p:nvPr/>
        </p:nvSpPr>
        <p:spPr>
          <a:xfrm>
            <a:off x="3703320" y="4187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080760" y="1143000"/>
            <a:ext cx="2651760" cy="3566160"/>
          </a:xfrm>
          <a:prstGeom prst="roundRect">
            <a:avLst>
              <a:gd name="adj" fmla="val 5172"/>
            </a:avLst>
          </a:prstGeom>
          <a:solidFill>
            <a:srgbClr val="1B3A6B"/>
          </a:solidFill>
          <a:ln w="254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5" name="Shape 33"/>
          <p:cNvSpPr/>
          <p:nvPr/>
        </p:nvSpPr>
        <p:spPr>
          <a:xfrm>
            <a:off x="7086600" y="1234440"/>
            <a:ext cx="640080" cy="640080"/>
          </a:xfrm>
          <a:prstGeom prst="ellipse">
            <a:avLst/>
          </a:prstGeom>
          <a:solidFill>
            <a:srgbClr val="0D1F3C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6" name="Text 34"/>
          <p:cNvSpPr/>
          <p:nvPr/>
        </p:nvSpPr>
        <p:spPr>
          <a:xfrm>
            <a:off x="708660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🗄️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17220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données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Infrastructure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309360" y="2715768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9" name="Text 37"/>
          <p:cNvSpPr/>
          <p:nvPr/>
        </p:nvSpPr>
        <p:spPr>
          <a:xfrm>
            <a:off x="6492240" y="25786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309360" y="3118104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1" name="Text 39"/>
          <p:cNvSpPr/>
          <p:nvPr/>
        </p:nvSpPr>
        <p:spPr>
          <a:xfrm>
            <a:off x="649224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Sauvegardes SQL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309360" y="3520440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3" name="Text 41"/>
          <p:cNvSpPr/>
          <p:nvPr/>
        </p:nvSpPr>
        <p:spPr>
          <a:xfrm>
            <a:off x="6492240" y="3383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audit / erreur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309360" y="3922776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5" name="Text 43"/>
          <p:cNvSpPr/>
          <p:nvPr/>
        </p:nvSpPr>
        <p:spPr>
          <a:xfrm>
            <a:off x="6492240" y="37856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Service Worker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309360" y="4325112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7" name="Text 45"/>
          <p:cNvSpPr/>
          <p:nvPr/>
        </p:nvSpPr>
        <p:spPr>
          <a:xfrm>
            <a:off x="6492240" y="4187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Docker-ready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  <p:pic>
        <p:nvPicPr>
          <p:cNvPr id="49" name="Picture 48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4630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Shape 3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6" name="Text 4"/>
          <p:cNvSpPr/>
          <p:nvPr/>
        </p:nvSpPr>
        <p:spPr>
          <a:xfrm>
            <a:off x="68580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 GP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85800" y="2103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pour votre attention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85800" y="2880360"/>
            <a:ext cx="4572000" cy="91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9" name="Text 7"/>
          <p:cNvSpPr/>
          <p:nvPr/>
        </p:nvSpPr>
        <p:spPr>
          <a:xfrm>
            <a:off x="6858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de Développement Municipal   •   adm.sn   •   2026</a:t>
            </a:r>
            <a:endParaRPr lang="en-US" sz="1400" dirty="0"/>
          </a:p>
        </p:txBody>
      </p:sp>
      <p:pic>
        <p:nvPicPr>
          <p:cNvPr id="10" name="Picture 9" descr="logo-gp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2331720" cy="2331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1789</Words>
  <Application>Microsoft Office PowerPoint</Application>
  <PresentationFormat>Affichage à l'écran (16:9)</PresentationFormat>
  <Paragraphs>441</Paragraphs>
  <Slides>39</Slides>
  <Notes>38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39</vt:i4>
      </vt:variant>
    </vt:vector>
  </HeadingPairs>
  <TitlesOfParts>
    <vt:vector size="43" baseType="lpstr">
      <vt:lpstr>Arial</vt:lpstr>
      <vt:lpstr>Calibri</vt:lpstr>
      <vt:lpstr>Trebuchet 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 GP - Gestion de Planning</dc:title>
  <dc:subject>PptxGenJS Presentation</dc:subject>
  <dc:creator>ADM</dc:creator>
  <cp:lastModifiedBy>CCBM TECHNOLOGIES</cp:lastModifiedBy>
  <cp:revision>4</cp:revision>
  <dcterms:created xsi:type="dcterms:W3CDTF">2026-05-05T10:48:16Z</dcterms:created>
  <dcterms:modified xsi:type="dcterms:W3CDTF">2026-06-22T15:33:41Z</dcterms:modified>
</cp:coreProperties>
</file>