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42679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1E3A6E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Shape 3"/>
          <p:cNvSpPr/>
          <p:nvPr/>
        </p:nvSpPr>
        <p:spPr>
          <a:xfrm>
            <a:off x="7772400" y="3474720"/>
            <a:ext cx="1645920" cy="1645920"/>
          </a:xfrm>
          <a:prstGeom prst="ellipse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6" name="Text 4"/>
          <p:cNvSpPr/>
          <p:nvPr/>
        </p:nvSpPr>
        <p:spPr>
          <a:xfrm>
            <a:off x="685800" y="502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 DE DÉVELOPPEMENT MUNICIPAL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150876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 GP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685800" y="251460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Gestion de Planning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85800" y="320040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 gestion intégrée des plannings,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réunions, missions et projets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85800" y="4160520"/>
            <a:ext cx="4114800" cy="91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685800" y="4251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   •   Mai 2026   •   Usage Interne</a:t>
            </a:r>
            <a:endParaRPr lang="en-US" sz="1200" dirty="0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A3942B2C-8D0B-9682-C1A6-7F26A48EE8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365" y="3653790"/>
            <a:ext cx="1287780" cy="12877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548640" y="2560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MODULES DE L'APPLICATION ADM GP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77724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6" name="Shape 4"/>
          <p:cNvSpPr/>
          <p:nvPr/>
        </p:nvSpPr>
        <p:spPr>
          <a:xfrm>
            <a:off x="891540" y="88696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7" name="Text 5"/>
          <p:cNvSpPr/>
          <p:nvPr/>
        </p:nvSpPr>
        <p:spPr>
          <a:xfrm>
            <a:off x="891540" y="886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5448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bord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920240" y="77724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Shape 8"/>
          <p:cNvSpPr/>
          <p:nvPr/>
        </p:nvSpPr>
        <p:spPr>
          <a:xfrm>
            <a:off x="2263140" y="88696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1" name="Text 9"/>
          <p:cNvSpPr/>
          <p:nvPr/>
        </p:nvSpPr>
        <p:spPr>
          <a:xfrm>
            <a:off x="2263140" y="886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965960" y="155448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Calendrier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91840" y="77724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Shape 12"/>
          <p:cNvSpPr/>
          <p:nvPr/>
        </p:nvSpPr>
        <p:spPr>
          <a:xfrm>
            <a:off x="3634740" y="88696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5" name="Text 13"/>
          <p:cNvSpPr/>
          <p:nvPr/>
        </p:nvSpPr>
        <p:spPr>
          <a:xfrm>
            <a:off x="3634740" y="886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337560" y="155448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77724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Shape 16"/>
          <p:cNvSpPr/>
          <p:nvPr/>
        </p:nvSpPr>
        <p:spPr>
          <a:xfrm>
            <a:off x="5006340" y="88696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9" name="Text 17"/>
          <p:cNvSpPr/>
          <p:nvPr/>
        </p:nvSpPr>
        <p:spPr>
          <a:xfrm>
            <a:off x="5006340" y="886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🤝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09160" y="155448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Réunions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035040" y="77724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2" name="Shape 20"/>
          <p:cNvSpPr/>
          <p:nvPr/>
        </p:nvSpPr>
        <p:spPr>
          <a:xfrm>
            <a:off x="6377940" y="88696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3" name="Text 21"/>
          <p:cNvSpPr/>
          <p:nvPr/>
        </p:nvSpPr>
        <p:spPr>
          <a:xfrm>
            <a:off x="6377940" y="886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✈️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080760" y="155448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406640" y="77724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6" name="Shape 24"/>
          <p:cNvSpPr/>
          <p:nvPr/>
        </p:nvSpPr>
        <p:spPr>
          <a:xfrm>
            <a:off x="7749540" y="88696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7" name="Text 25"/>
          <p:cNvSpPr/>
          <p:nvPr/>
        </p:nvSpPr>
        <p:spPr>
          <a:xfrm>
            <a:off x="7749540" y="886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🏢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452360" y="155448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Salles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278892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0" name="Shape 28"/>
          <p:cNvSpPr/>
          <p:nvPr/>
        </p:nvSpPr>
        <p:spPr>
          <a:xfrm>
            <a:off x="891540" y="289864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1" name="Text 29"/>
          <p:cNvSpPr/>
          <p:nvPr/>
        </p:nvSpPr>
        <p:spPr>
          <a:xfrm>
            <a:off x="891540" y="2898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📁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94360" y="356616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1920240" y="278892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4" name="Shape 32"/>
          <p:cNvSpPr/>
          <p:nvPr/>
        </p:nvSpPr>
        <p:spPr>
          <a:xfrm>
            <a:off x="2263140" y="289864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5" name="Text 33"/>
          <p:cNvSpPr/>
          <p:nvPr/>
        </p:nvSpPr>
        <p:spPr>
          <a:xfrm>
            <a:off x="2263140" y="2898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965960" y="356616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3291840" y="278892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8" name="Shape 36"/>
          <p:cNvSpPr/>
          <p:nvPr/>
        </p:nvSpPr>
        <p:spPr>
          <a:xfrm>
            <a:off x="3634740" y="289864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9" name="Text 37"/>
          <p:cNvSpPr/>
          <p:nvPr/>
        </p:nvSpPr>
        <p:spPr>
          <a:xfrm>
            <a:off x="3634740" y="2898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📞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3337560" y="356616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Répertoire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663440" y="278892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2" name="Shape 40"/>
          <p:cNvSpPr/>
          <p:nvPr/>
        </p:nvSpPr>
        <p:spPr>
          <a:xfrm>
            <a:off x="5006340" y="289864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3" name="Text 41"/>
          <p:cNvSpPr/>
          <p:nvPr/>
        </p:nvSpPr>
        <p:spPr>
          <a:xfrm>
            <a:off x="5006340" y="2898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4709160" y="356616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035040" y="278892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6" name="Shape 44"/>
          <p:cNvSpPr/>
          <p:nvPr/>
        </p:nvSpPr>
        <p:spPr>
          <a:xfrm>
            <a:off x="6377940" y="289864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7" name="Text 45"/>
          <p:cNvSpPr/>
          <p:nvPr/>
        </p:nvSpPr>
        <p:spPr>
          <a:xfrm>
            <a:off x="6377940" y="2898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6080760" y="356616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406640" y="2788920"/>
            <a:ext cx="1234440" cy="1737360"/>
          </a:xfrm>
          <a:prstGeom prst="roundRect">
            <a:avLst>
              <a:gd name="adj" fmla="val 8889"/>
            </a:avLst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0" name="Shape 48"/>
          <p:cNvSpPr/>
          <p:nvPr/>
        </p:nvSpPr>
        <p:spPr>
          <a:xfrm>
            <a:off x="7749540" y="2898648"/>
            <a:ext cx="548640" cy="548640"/>
          </a:xfrm>
          <a:prstGeom prst="ellipse">
            <a:avLst/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1" name="Text 49"/>
          <p:cNvSpPr/>
          <p:nvPr/>
        </p:nvSpPr>
        <p:spPr>
          <a:xfrm>
            <a:off x="7749540" y="2898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7452360" y="356616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RÔLES ET PERMISSIONS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Hiérarchie des accès dans ADM GP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600200" cy="338328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SN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16002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8" name="Text 6"/>
          <p:cNvSpPr/>
          <p:nvPr/>
        </p:nvSpPr>
        <p:spPr>
          <a:xfrm>
            <a:off x="576072" y="1508760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563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057400"/>
            <a:ext cx="1417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 et soumet les plannings hebdomadaires de sa direction.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Gère les réunions, missions et projets.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176272" y="1188720"/>
            <a:ext cx="1600200" cy="338328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SN"/>
          </a:p>
        </p:txBody>
      </p:sp>
      <p:sp>
        <p:nvSpPr>
          <p:cNvPr id="11" name="Shape 9"/>
          <p:cNvSpPr/>
          <p:nvPr/>
        </p:nvSpPr>
        <p:spPr>
          <a:xfrm>
            <a:off x="2176272" y="1188720"/>
            <a:ext cx="1600200" cy="2560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2249424" y="1508760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CONSOLIDATEUR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67712" y="2057400"/>
            <a:ext cx="1417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Consolide les plannings soumis par les responsables avant validation.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multi-directions.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849624" y="1188720"/>
            <a:ext cx="1600200" cy="338328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SN"/>
          </a:p>
        </p:txBody>
      </p:sp>
      <p:sp>
        <p:nvSpPr>
          <p:cNvPr id="15" name="Shape 13"/>
          <p:cNvSpPr/>
          <p:nvPr/>
        </p:nvSpPr>
        <p:spPr>
          <a:xfrm>
            <a:off x="3849624" y="1188720"/>
            <a:ext cx="160020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3922776" y="1508760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941064" y="2057400"/>
            <a:ext cx="1417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 Général — valide ou retourne les plannings consolidés.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complet en lecture.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522976" y="1188720"/>
            <a:ext cx="1600200" cy="338328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SN"/>
          </a:p>
        </p:txBody>
      </p:sp>
      <p:sp>
        <p:nvSpPr>
          <p:cNvPr id="19" name="Shape 17"/>
          <p:cNvSpPr/>
          <p:nvPr/>
        </p:nvSpPr>
        <p:spPr>
          <a:xfrm>
            <a:off x="5522976" y="1188720"/>
            <a:ext cx="1600200" cy="2560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5596128" y="1508760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14416" y="2057400"/>
            <a:ext cx="1417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 système — gestion complète des utilisateurs,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salles, directions et paramètres.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196328" y="1188720"/>
            <a:ext cx="1600200" cy="338328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SN"/>
          </a:p>
        </p:txBody>
      </p:sp>
      <p:sp>
        <p:nvSpPr>
          <p:cNvPr id="23" name="Shape 21"/>
          <p:cNvSpPr/>
          <p:nvPr/>
        </p:nvSpPr>
        <p:spPr>
          <a:xfrm>
            <a:off x="7196328" y="1188720"/>
            <a:ext cx="1600200" cy="2560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4" name="Text 22"/>
          <p:cNvSpPr/>
          <p:nvPr/>
        </p:nvSpPr>
        <p:spPr>
          <a:xfrm>
            <a:off x="7269480" y="1508760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 ADMIN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287768" y="2057400"/>
            <a:ext cx="1417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total incluant journaux d'audit, sauvegardes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et documents système.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🔐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Authentification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 avec authentification à deux facteurs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🔐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 de Connexion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sécurisé à l'application avec JWT et 2FA optionnel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 de Connexion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mot de passe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2FA (TOTP via QR Code)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de compte par email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de compte à la première connexion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JWT 15 min + refresh 7 jours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 de force du mot de passe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🏠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Accueil Public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du planning journalier accessible sans connexion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🏠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Tableau de Bord Public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temps réel accessible sans authentification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Tableau de Bord Public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sans connexion requise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 des salles (timeline visuelle)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Réunions du jour en temps réel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Missions en cours par direction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Onglets : Salles / Missions / Calendrier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Rafraîchissement automatique toutes les 5 min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📊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Tableau de Bord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et statistiques en temps réel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📊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Tableau de Bord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des activités et indicateurs clés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Tableau de Bord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Salles libres / occupées en temps réel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Réunions programmées du jour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Plannings en attente de validation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d'occupation (barre de progression %)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de la semaine en cours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CSV des statistiques avancées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📅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Calendrier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Vues mois, semaine et jour unifiées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📅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Calendrier Unifié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temporelle avec codes couleur par type d'événement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Calendrier Unifié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Mois / Semaine / Jour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couleur par type d'événement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 de l'heure actuelle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temporelle intuitive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iCal, CSV, PDF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Détail complet au clic sur un événement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📋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Gestion des Plannings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de validation hebdomadaire en 4 étapes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548640" y="2011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DE VALIDATION DES PLANNINGS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56692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 de vie d'un planning hebdomadaire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18288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7" name="Shape 5"/>
          <p:cNvSpPr/>
          <p:nvPr/>
        </p:nvSpPr>
        <p:spPr>
          <a:xfrm>
            <a:off x="502920" y="1143000"/>
            <a:ext cx="1828800" cy="3200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8" name="Shape 6"/>
          <p:cNvSpPr/>
          <p:nvPr/>
        </p:nvSpPr>
        <p:spPr>
          <a:xfrm>
            <a:off x="1874520" y="960120"/>
            <a:ext cx="365760" cy="36576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9" name="Text 7"/>
          <p:cNvSpPr/>
          <p:nvPr/>
        </p:nvSpPr>
        <p:spPr>
          <a:xfrm>
            <a:off x="1874520" y="960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76072" y="1527048"/>
            <a:ext cx="1682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BROUILLON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6072" y="1984248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76072" y="2331720"/>
            <a:ext cx="16824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 et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rédige le planning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18288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59E0B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2651760" y="1143000"/>
            <a:ext cx="18288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5" name="Shape 13"/>
          <p:cNvSpPr/>
          <p:nvPr/>
        </p:nvSpPr>
        <p:spPr>
          <a:xfrm>
            <a:off x="2651760" y="1143000"/>
            <a:ext cx="1828800" cy="3200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Shape 14"/>
          <p:cNvSpPr/>
          <p:nvPr/>
        </p:nvSpPr>
        <p:spPr>
          <a:xfrm>
            <a:off x="4023360" y="960120"/>
            <a:ext cx="365760" cy="3657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7" name="Text 15"/>
          <p:cNvSpPr/>
          <p:nvPr/>
        </p:nvSpPr>
        <p:spPr>
          <a:xfrm>
            <a:off x="4023360" y="960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724912" y="1527048"/>
            <a:ext cx="1682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SOUMIS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724912" y="1984248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24912" y="2331720"/>
            <a:ext cx="16824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Soumet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révision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18288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59E0B"/>
                </a:solidFill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800600" y="1143000"/>
            <a:ext cx="18288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3" name="Shape 21"/>
          <p:cNvSpPr/>
          <p:nvPr/>
        </p:nvSpPr>
        <p:spPr>
          <a:xfrm>
            <a:off x="4800600" y="1143000"/>
            <a:ext cx="1828800" cy="320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4" name="Shape 22"/>
          <p:cNvSpPr/>
          <p:nvPr/>
        </p:nvSpPr>
        <p:spPr>
          <a:xfrm>
            <a:off x="6172200" y="960120"/>
            <a:ext cx="365760" cy="36576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5" name="Text 23"/>
          <p:cNvSpPr/>
          <p:nvPr/>
        </p:nvSpPr>
        <p:spPr>
          <a:xfrm>
            <a:off x="6172200" y="960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73752" y="1527048"/>
            <a:ext cx="1682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CONSOLIDATION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73752" y="1984248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Consolidateur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73752" y="2331720"/>
            <a:ext cx="16824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plannings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629400" y="18288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59E0B"/>
                </a:solidFill>
              </a:rPr>
              <a:t>→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6949440" y="1143000"/>
            <a:ext cx="18288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1" name="Shape 29"/>
          <p:cNvSpPr/>
          <p:nvPr/>
        </p:nvSpPr>
        <p:spPr>
          <a:xfrm>
            <a:off x="6949440" y="1143000"/>
            <a:ext cx="1828800" cy="3200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2" name="Shape 30"/>
          <p:cNvSpPr/>
          <p:nvPr/>
        </p:nvSpPr>
        <p:spPr>
          <a:xfrm>
            <a:off x="8321040" y="960120"/>
            <a:ext cx="365760" cy="36576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3" name="Text 31"/>
          <p:cNvSpPr/>
          <p:nvPr/>
        </p:nvSpPr>
        <p:spPr>
          <a:xfrm>
            <a:off x="8321040" y="960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022592" y="1527048"/>
            <a:ext cx="1682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VALIDÉ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022592" y="1984248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022592" y="2331720"/>
            <a:ext cx="16824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02920" y="3383280"/>
            <a:ext cx="8321040" cy="594360"/>
          </a:xfrm>
          <a:prstGeom prst="roundRect">
            <a:avLst>
              <a:gd name="adj" fmla="val 12308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8" name="Text 36"/>
          <p:cNvSpPr/>
          <p:nvPr/>
        </p:nvSpPr>
        <p:spPr>
          <a:xfrm>
            <a:off x="640080" y="34015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↩  RETOURNÉ avec commentaires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(DG → Responsable)  —  Notifications automatiques à chaque changement de statut  •  Historique complet conservé dans les journaux d'audit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📋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Plannings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hebdomadaire des activités par direction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Plannings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par semaine (précédente / suivante)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par statut et par responsable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synthétique de toutes les directions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 au format iCalendar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avec commentaires (DG → Responsable)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à chaque étape du workflow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🤝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Réunions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et réservation automatique de salles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🤝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Réunions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collaborative avec détection de conflits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Réunions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avec détection automatique de conflits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Réservation automatique de la salle adaptée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participants et invitations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Liens visioconférence intégrés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Statuts : Brouillon → Confirmé → Annulé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Rappels automatiques par email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✈️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déplacements et missions terrain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✈️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Missions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complète des missions et déplacements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Missions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Lieu, dates de départ et retour, description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Assignation des agents participants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Lien avec une direction et un projet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multi-critères avancés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Affichage sur le calendrier unifié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des données de mission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🏢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Salles de Réunion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et occupation en temps réel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🏢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Salles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complète des espaces et réservations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Salles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temps réel : Libre / Occupée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Capacité, localisation et équipements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: projecteur, wifi, climatisation…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Réservation directe depuis la carte des salles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/ désactivation d'une salle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complet des réservations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📁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Projets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documentaire et suivi des ressources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📁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Projets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projets et documents associés par direction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Projets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projet et descriptions détaillées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Statuts : Actif / En pause / Terminé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Compteurs de missions et réunions liées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et gestion de documents projet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Panneau de détail complet du projet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par direction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💬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Messagerie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temps réel entre agents et directions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💬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Messagerie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interne en temps réel via WebSocket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Messagerie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directs et canaux par direction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réel via WebSocket (Socket.IO)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de présence en ligne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Pièces jointes : PDF, images, Word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à un message (citation)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d'attente pour messages hors-ligne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📞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Répertoire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Annuaire téléphonique organisationnel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📞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411480" y="1920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Répertoire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Téléphonique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02920" y="2926080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8" name="Text 6"/>
          <p:cNvSpPr/>
          <p:nvPr/>
        </p:nvSpPr>
        <p:spPr>
          <a:xfrm>
            <a:off x="502920" y="29260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64  Contacts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1E3A6E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502920" y="36118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 Directions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Répertoire Téléphonique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Regroupement des contacts par direction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Numéros cliquables pour appel direct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multi-critères (nom, direction…)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annuaire au format Word et PDF paysage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2" name="Text 20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CRUD complète des contacts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4" name="Text 22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de consultation rapide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🔔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Notifications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in-app et email automatiques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🔔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Notifications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multicanaux configurables par l'utilisateur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Notifications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Canaux : In-app + Email automatique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Événements : réunions, plannings, missions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silencieux configurable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Préférences par type d'événement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temps réel sur l'icône de notifications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complet paginé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👤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 Profil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du compte et sécurité personnelle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👤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Profil Utilisateur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informations personnelles et de la sécurité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Profil Utilisateur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de profil (max 5 Mo, JPEG/PNG)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 des informations personnelles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Changement de mot de passe sécurisé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 de force du mot de passe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du 2FA avec QR Code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des connexions récentes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⚙️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Administration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Panneau de contrôle complet de la plateforme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📈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— Statistiques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et indicateurs de performance de la plateforme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— Statistiques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 actifs et inactifs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validation des plannings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des réunions et missions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par période (semaine, mois, année)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CSV des rapports statistiques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Graphiques KPI en temps réel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👥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— Utilisateurs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complète du cycle de vie des comptes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— Utilisateurs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complète des utilisateurs (11 comptes)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avec envoi d'email d'activation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 du rôle et de la direction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et désactivation des comptes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Réinitialisation du mot de passe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par rôle et par statut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📜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— Journaux d'Audit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complète et immuable de toutes les actions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— Journaux d'Audit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entrées auditées et tracées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: action, entité, utilisateur, période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Rétention minimum 12 mois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CSV des journaux d'audit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Entrées immuables (aucune suppression possible)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complète de chaque action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320040" y="320040"/>
            <a:ext cx="3108960" cy="4434840"/>
          </a:xfrm>
          <a:prstGeom prst="roundRect">
            <a:avLst>
              <a:gd name="adj" fmla="val 441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🛡️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— Sauvegardes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sauvegardes PostgreSQL (Super Administrateur)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8412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— Sauvegardes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0" name="Text 8"/>
          <p:cNvSpPr/>
          <p:nvPr/>
        </p:nvSpPr>
        <p:spPr>
          <a:xfrm>
            <a:off x="4041648" y="155448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manuel déclenché à la demande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1214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2" name="Text 10"/>
          <p:cNvSpPr/>
          <p:nvPr/>
        </p:nvSpPr>
        <p:spPr>
          <a:xfrm>
            <a:off x="4041648" y="2029968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de notification automatique post-backup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596896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4" name="Text 12"/>
          <p:cNvSpPr/>
          <p:nvPr/>
        </p:nvSpPr>
        <p:spPr>
          <a:xfrm>
            <a:off x="4041648" y="2505456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Téléchargement des fichiers .sql générés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3072384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6" name="Text 14"/>
          <p:cNvSpPr/>
          <p:nvPr/>
        </p:nvSpPr>
        <p:spPr>
          <a:xfrm>
            <a:off x="4041648" y="2980944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Restauration depuis un fichier de sauvegarde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49040" y="35478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8" name="Text 16"/>
          <p:cNvSpPr/>
          <p:nvPr/>
        </p:nvSpPr>
        <p:spPr>
          <a:xfrm>
            <a:off x="4041648" y="3456432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avec date, heure et taille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49040" y="402336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0" name="Text 18"/>
          <p:cNvSpPr/>
          <p:nvPr/>
        </p:nvSpPr>
        <p:spPr>
          <a:xfrm>
            <a:off x="4041648" y="3931920"/>
            <a:ext cx="4709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Réservé exclusivement au Super Administrateur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1005840" y="1280160"/>
            <a:ext cx="1463040" cy="1463040"/>
          </a:xfrm>
          <a:prstGeom prst="ellipse">
            <a:avLst/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🛠️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Technique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23317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moderne, sécurisé et scalable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Text 2"/>
          <p:cNvSpPr/>
          <p:nvPr/>
        </p:nvSpPr>
        <p:spPr>
          <a:xfrm>
            <a:off x="548640" y="2011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TECHNIQUE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56692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Stack moderne, sécurisé et prêt pour la production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2651760" cy="3566160"/>
          </a:xfrm>
          <a:prstGeom prst="roundRect">
            <a:avLst>
              <a:gd name="adj" fmla="val 5172"/>
            </a:avLst>
          </a:prstGeom>
          <a:solidFill>
            <a:srgbClr val="1B3A6B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7" name="Shape 5"/>
          <p:cNvSpPr/>
          <p:nvPr/>
        </p:nvSpPr>
        <p:spPr>
          <a:xfrm>
            <a:off x="1508760" y="1234440"/>
            <a:ext cx="640080" cy="640080"/>
          </a:xfrm>
          <a:prstGeom prst="ellipse">
            <a:avLst/>
          </a:prstGeom>
          <a:solidFill>
            <a:srgbClr val="0D1F3C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8" name="Text 6"/>
          <p:cNvSpPr/>
          <p:nvPr/>
        </p:nvSpPr>
        <p:spPr>
          <a:xfrm>
            <a:off x="1508760" y="1234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🖥️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1965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715768"/>
            <a:ext cx="10972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1" name="Text 9"/>
          <p:cNvSpPr/>
          <p:nvPr/>
        </p:nvSpPr>
        <p:spPr>
          <a:xfrm>
            <a:off x="914400" y="257860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 6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3118104"/>
            <a:ext cx="10972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3" name="Text 11"/>
          <p:cNvSpPr/>
          <p:nvPr/>
        </p:nvSpPr>
        <p:spPr>
          <a:xfrm>
            <a:off x="914400" y="298094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 Design v5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31520" y="3520440"/>
            <a:ext cx="10972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5" name="Text 13"/>
          <p:cNvSpPr/>
          <p:nvPr/>
        </p:nvSpPr>
        <p:spPr>
          <a:xfrm>
            <a:off x="914400" y="33832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4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1520" y="3922776"/>
            <a:ext cx="10972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7" name="Text 15"/>
          <p:cNvSpPr/>
          <p:nvPr/>
        </p:nvSpPr>
        <p:spPr>
          <a:xfrm>
            <a:off x="914400" y="378561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 (state)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31520" y="4325112"/>
            <a:ext cx="10972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19" name="Text 17"/>
          <p:cNvSpPr/>
          <p:nvPr/>
        </p:nvSpPr>
        <p:spPr>
          <a:xfrm>
            <a:off x="914400" y="41879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7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291840" y="1143000"/>
            <a:ext cx="2651760" cy="3566160"/>
          </a:xfrm>
          <a:prstGeom prst="roundRect">
            <a:avLst>
              <a:gd name="adj" fmla="val 5172"/>
            </a:avLst>
          </a:prstGeom>
          <a:solidFill>
            <a:srgbClr val="1B3A6B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1" name="Shape 19"/>
          <p:cNvSpPr/>
          <p:nvPr/>
        </p:nvSpPr>
        <p:spPr>
          <a:xfrm>
            <a:off x="4297680" y="1234440"/>
            <a:ext cx="640080" cy="640080"/>
          </a:xfrm>
          <a:prstGeom prst="ellipse">
            <a:avLst/>
          </a:prstGeom>
          <a:solidFill>
            <a:srgbClr val="0D1F3C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2" name="Text 20"/>
          <p:cNvSpPr/>
          <p:nvPr/>
        </p:nvSpPr>
        <p:spPr>
          <a:xfrm>
            <a:off x="4297680" y="1234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383280" y="1965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520440" y="2715768"/>
            <a:ext cx="109728" cy="1097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5" name="Text 23"/>
          <p:cNvSpPr/>
          <p:nvPr/>
        </p:nvSpPr>
        <p:spPr>
          <a:xfrm>
            <a:off x="3703320" y="257860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 5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3520440" y="3118104"/>
            <a:ext cx="109728" cy="1097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7" name="Text 25"/>
          <p:cNvSpPr/>
          <p:nvPr/>
        </p:nvSpPr>
        <p:spPr>
          <a:xfrm>
            <a:off x="3703320" y="298094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3520440" y="3520440"/>
            <a:ext cx="109728" cy="1097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29" name="Text 27"/>
          <p:cNvSpPr/>
          <p:nvPr/>
        </p:nvSpPr>
        <p:spPr>
          <a:xfrm>
            <a:off x="3703320" y="33832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(15 min)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3520440" y="3922776"/>
            <a:ext cx="109728" cy="1097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1" name="Text 29"/>
          <p:cNvSpPr/>
          <p:nvPr/>
        </p:nvSpPr>
        <p:spPr>
          <a:xfrm>
            <a:off x="3703320" y="378561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Socket.IO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3520440" y="4325112"/>
            <a:ext cx="109728" cy="1097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3" name="Text 31"/>
          <p:cNvSpPr/>
          <p:nvPr/>
        </p:nvSpPr>
        <p:spPr>
          <a:xfrm>
            <a:off x="3703320" y="41879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080760" y="1143000"/>
            <a:ext cx="2651760" cy="3566160"/>
          </a:xfrm>
          <a:prstGeom prst="roundRect">
            <a:avLst>
              <a:gd name="adj" fmla="val 5172"/>
            </a:avLst>
          </a:prstGeom>
          <a:solidFill>
            <a:srgbClr val="1B3A6B"/>
          </a:solidFill>
          <a:ln w="254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5" name="Shape 33"/>
          <p:cNvSpPr/>
          <p:nvPr/>
        </p:nvSpPr>
        <p:spPr>
          <a:xfrm>
            <a:off x="7086600" y="1234440"/>
            <a:ext cx="640080" cy="640080"/>
          </a:xfrm>
          <a:prstGeom prst="ellipse">
            <a:avLst/>
          </a:prstGeom>
          <a:solidFill>
            <a:srgbClr val="0D1F3C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6" name="Text 34"/>
          <p:cNvSpPr/>
          <p:nvPr/>
        </p:nvSpPr>
        <p:spPr>
          <a:xfrm>
            <a:off x="7086600" y="1234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🗄️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6172200" y="1965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de données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Infrastructure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309360" y="2715768"/>
            <a:ext cx="109728" cy="1097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9" name="Text 37"/>
          <p:cNvSpPr/>
          <p:nvPr/>
        </p:nvSpPr>
        <p:spPr>
          <a:xfrm>
            <a:off x="6492240" y="257860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6309360" y="3118104"/>
            <a:ext cx="109728" cy="1097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1" name="Text 39"/>
          <p:cNvSpPr/>
          <p:nvPr/>
        </p:nvSpPr>
        <p:spPr>
          <a:xfrm>
            <a:off x="6492240" y="298094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Sauvegardes SQL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6309360" y="3520440"/>
            <a:ext cx="109728" cy="1097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3" name="Text 41"/>
          <p:cNvSpPr/>
          <p:nvPr/>
        </p:nvSpPr>
        <p:spPr>
          <a:xfrm>
            <a:off x="6492240" y="33832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audit / erreur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6309360" y="3922776"/>
            <a:ext cx="109728" cy="1097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5" name="Text 43"/>
          <p:cNvSpPr/>
          <p:nvPr/>
        </p:nvSpPr>
        <p:spPr>
          <a:xfrm>
            <a:off x="6492240" y="378561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Service Worker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6309360" y="4325112"/>
            <a:ext cx="109728" cy="1097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7" name="Text 45"/>
          <p:cNvSpPr/>
          <p:nvPr/>
        </p:nvSpPr>
        <p:spPr>
          <a:xfrm>
            <a:off x="6492240" y="41879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Docker-ready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GP  •  Application de Gestion de Planning  •  ADM 2026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4" name="Shape 2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5" name="Shape 3"/>
          <p:cNvSpPr/>
          <p:nvPr/>
        </p:nvSpPr>
        <p:spPr>
          <a:xfrm>
            <a:off x="-731520" y="3474720"/>
            <a:ext cx="2286000" cy="228600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6" name="Text 4"/>
          <p:cNvSpPr/>
          <p:nvPr/>
        </p:nvSpPr>
        <p:spPr>
          <a:xfrm>
            <a:off x="685800" y="10972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 GP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685800" y="210312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Merci pour votre attention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85800" y="2880360"/>
            <a:ext cx="4572000" cy="91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SN"/>
          </a:p>
        </p:txBody>
      </p:sp>
      <p:sp>
        <p:nvSpPr>
          <p:cNvPr id="9" name="Text 7"/>
          <p:cNvSpPr/>
          <p:nvPr/>
        </p:nvSpPr>
        <p:spPr>
          <a:xfrm>
            <a:off x="68580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 de Développement Municipal   •   adm.sn   •  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1694</Words>
  <Application>Microsoft Office PowerPoint</Application>
  <PresentationFormat>Affichage à l'écran (16:9)</PresentationFormat>
  <Paragraphs>411</Paragraphs>
  <Slides>38</Slides>
  <Notes>38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38</vt:i4>
      </vt:variant>
    </vt:vector>
  </HeadingPairs>
  <TitlesOfParts>
    <vt:vector size="42" baseType="lpstr">
      <vt:lpstr>Arial</vt:lpstr>
      <vt:lpstr>Calibri</vt:lpstr>
      <vt:lpstr>Trebuchet MS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ADM GP - Gestion de Planning</dc:title>
  <dc:subject>PptxGenJS Presentation</dc:subject>
  <dc:creator>ADM</dc:creator>
  <cp:lastModifiedBy>CCBM TECHNOLOGIES</cp:lastModifiedBy>
  <cp:revision>4</cp:revision>
  <dcterms:created xsi:type="dcterms:W3CDTF">2026-05-05T10:48:16Z</dcterms:created>
  <dcterms:modified xsi:type="dcterms:W3CDTF">2026-05-05T12:08:10Z</dcterms:modified>
</cp:coreProperties>
</file>